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4" r:id="rId1"/>
  </p:sldMasterIdLst>
  <p:notesMasterIdLst>
    <p:notesMasterId r:id="rId19"/>
  </p:notesMasterIdLst>
  <p:sldIdLst>
    <p:sldId id="257" r:id="rId2"/>
    <p:sldId id="256" r:id="rId3"/>
    <p:sldId id="258" r:id="rId4"/>
    <p:sldId id="262" r:id="rId5"/>
    <p:sldId id="259" r:id="rId6"/>
    <p:sldId id="263" r:id="rId7"/>
    <p:sldId id="264" r:id="rId8"/>
    <p:sldId id="266" r:id="rId9"/>
    <p:sldId id="265" r:id="rId10"/>
    <p:sldId id="267" r:id="rId11"/>
    <p:sldId id="272" r:id="rId12"/>
    <p:sldId id="269" r:id="rId13"/>
    <p:sldId id="273" r:id="rId14"/>
    <p:sldId id="270" r:id="rId15"/>
    <p:sldId id="274" r:id="rId16"/>
    <p:sldId id="275"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344E0A-891E-4D5D-A74E-BBA02C274B82}">
          <p14:sldIdLst>
            <p14:sldId id="257"/>
            <p14:sldId id="256"/>
            <p14:sldId id="258"/>
            <p14:sldId id="262"/>
            <p14:sldId id="259"/>
            <p14:sldId id="263"/>
            <p14:sldId id="264"/>
            <p14:sldId id="266"/>
            <p14:sldId id="265"/>
            <p14:sldId id="267"/>
            <p14:sldId id="272"/>
            <p14:sldId id="269"/>
            <p14:sldId id="273"/>
            <p14:sldId id="270"/>
            <p14:sldId id="274"/>
            <p14:sldId id="275"/>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8" d="100"/>
          <a:sy n="48" d="100"/>
        </p:scale>
        <p:origin x="12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CE3DD3-8EC7-432E-9A2A-19B0C54BBA1F}" type="doc">
      <dgm:prSet loTypeId="urn:microsoft.com/office/officeart/2018/2/layout/IconVerticalSolidList" loCatId="icon" qsTypeId="urn:microsoft.com/office/officeart/2005/8/quickstyle/3d1" qsCatId="3D" csTypeId="urn:microsoft.com/office/officeart/2005/8/colors/accent1_2" csCatId="accent1" phldr="1"/>
      <dgm:spPr/>
      <dgm:t>
        <a:bodyPr/>
        <a:lstStyle/>
        <a:p>
          <a:endParaRPr lang="en-US"/>
        </a:p>
      </dgm:t>
    </dgm:pt>
    <dgm:pt modelId="{E8752440-C067-48D5-AD39-74DFA5C06EAA}">
      <dgm:prSet custT="1"/>
      <dgm:spPr/>
      <dgm:t>
        <a:bodyPr/>
        <a:lstStyle/>
        <a:p>
          <a:pPr>
            <a:lnSpc>
              <a:spcPct val="100000"/>
            </a:lnSpc>
          </a:pPr>
          <a:r>
            <a:rPr lang="en-US" sz="2000" b="1" dirty="0"/>
            <a:t>Data Description &amp; Source</a:t>
          </a:r>
        </a:p>
        <a:p>
          <a:pPr>
            <a:lnSpc>
              <a:spcPct val="100000"/>
            </a:lnSpc>
          </a:pPr>
          <a:r>
            <a:rPr lang="en-US" sz="1400" dirty="0" err="1"/>
            <a:t>solarpowergeneration</a:t>
          </a:r>
          <a:r>
            <a:rPr lang="en-US" sz="1400" dirty="0"/>
            <a:t> </a:t>
          </a:r>
        </a:p>
        <a:p>
          <a:pPr>
            <a:lnSpc>
              <a:spcPct val="100000"/>
            </a:lnSpc>
          </a:pPr>
          <a:r>
            <a:rPr lang="en-US" sz="1400" dirty="0"/>
            <a:t>(2) (1).csv </a:t>
          </a:r>
        </a:p>
        <a:p>
          <a:pPr>
            <a:lnSpc>
              <a:spcPct val="100000"/>
            </a:lnSpc>
          </a:pPr>
          <a:r>
            <a:rPr lang="en-US" sz="1400" b="1" dirty="0"/>
            <a:t>Features</a:t>
          </a:r>
        </a:p>
        <a:p>
          <a:pPr>
            <a:lnSpc>
              <a:spcPct val="100000"/>
            </a:lnSpc>
          </a:pPr>
          <a:r>
            <a:rPr lang="en-US" sz="1050" b="1" i="0" u="none" dirty="0"/>
            <a:t>distance-to-solar-noon	temperature	wind-direction	wind-speed	sky-cover	visibility	humidity	average-wind-speed-(period)	average-pressure-(period)</a:t>
          </a:r>
          <a:r>
            <a:rPr lang="en-US" sz="1400" b="0" i="0" u="none" dirty="0"/>
            <a:t>	</a:t>
          </a:r>
          <a:endParaRPr lang="en-US" sz="1400" dirty="0"/>
        </a:p>
      </dgm:t>
    </dgm:pt>
    <dgm:pt modelId="{3249BDFE-CED8-4C28-B789-1FB7DBCC8524}" type="parTrans" cxnId="{B80ADF45-B237-47D7-9CBB-99FE09FA6E59}">
      <dgm:prSet/>
      <dgm:spPr/>
      <dgm:t>
        <a:bodyPr/>
        <a:lstStyle/>
        <a:p>
          <a:endParaRPr lang="en-US"/>
        </a:p>
      </dgm:t>
    </dgm:pt>
    <dgm:pt modelId="{16EA88F5-7188-4174-8D33-ADB35990D3A8}" type="sibTrans" cxnId="{B80ADF45-B237-47D7-9CBB-99FE09FA6E59}">
      <dgm:prSet/>
      <dgm:spPr/>
      <dgm:t>
        <a:bodyPr/>
        <a:lstStyle/>
        <a:p>
          <a:endParaRPr lang="en-US"/>
        </a:p>
      </dgm:t>
    </dgm:pt>
    <dgm:pt modelId="{77929191-030A-4C5D-B10B-C4329883B2BD}">
      <dgm:prSet custT="1"/>
      <dgm:spPr/>
      <dgm:t>
        <a:bodyPr/>
        <a:lstStyle/>
        <a:p>
          <a:pPr>
            <a:lnSpc>
              <a:spcPct val="100000"/>
            </a:lnSpc>
          </a:pPr>
          <a:r>
            <a:rPr lang="en-US" sz="2500" dirty="0"/>
            <a:t>       </a:t>
          </a:r>
          <a:r>
            <a:rPr lang="en-US" sz="2000" b="1" dirty="0"/>
            <a:t>Target variable</a:t>
          </a:r>
          <a:r>
            <a:rPr lang="en-US" sz="2500" b="1" dirty="0"/>
            <a:t>: </a:t>
          </a:r>
          <a:r>
            <a:rPr lang="en-US" sz="1800" b="1" dirty="0"/>
            <a:t>power-generated</a:t>
          </a:r>
          <a:r>
            <a:rPr lang="en-US" sz="1800" b="0" dirty="0"/>
            <a:t>:</a:t>
          </a:r>
        </a:p>
      </dgm:t>
    </dgm:pt>
    <dgm:pt modelId="{04C613D8-2F49-4E5F-ACB5-A14949F4B054}" type="sibTrans" cxnId="{45EC15FB-AB23-4847-810E-6AE273705644}">
      <dgm:prSet/>
      <dgm:spPr/>
      <dgm:t>
        <a:bodyPr/>
        <a:lstStyle/>
        <a:p>
          <a:endParaRPr lang="en-US"/>
        </a:p>
      </dgm:t>
    </dgm:pt>
    <dgm:pt modelId="{082B2073-643E-4ED4-8DC4-37C918741FA7}" type="parTrans" cxnId="{45EC15FB-AB23-4847-810E-6AE273705644}">
      <dgm:prSet/>
      <dgm:spPr/>
      <dgm:t>
        <a:bodyPr/>
        <a:lstStyle/>
        <a:p>
          <a:endParaRPr lang="en-US"/>
        </a:p>
      </dgm:t>
    </dgm:pt>
    <dgm:pt modelId="{30A6E732-F035-4D5C-878B-7C6B0DDFFA78}" type="pres">
      <dgm:prSet presAssocID="{06CE3DD3-8EC7-432E-9A2A-19B0C54BBA1F}" presName="root" presStyleCnt="0">
        <dgm:presLayoutVars>
          <dgm:dir/>
          <dgm:resizeHandles val="exact"/>
        </dgm:presLayoutVars>
      </dgm:prSet>
      <dgm:spPr/>
    </dgm:pt>
    <dgm:pt modelId="{964A9F1C-903F-4543-9ED5-1B581E3B8AB8}" type="pres">
      <dgm:prSet presAssocID="{E8752440-C067-48D5-AD39-74DFA5C06EAA}" presName="compNode" presStyleCnt="0"/>
      <dgm:spPr/>
    </dgm:pt>
    <dgm:pt modelId="{5646111B-650E-4EDE-BD45-8BFCE1B5FA97}" type="pres">
      <dgm:prSet presAssocID="{E8752440-C067-48D5-AD39-74DFA5C06EAA}" presName="bgRect" presStyleLbl="bgShp" presStyleIdx="0" presStyleCnt="2" custLinFactNeighborX="8728" custLinFactNeighborY="-54167"/>
      <dgm:spPr/>
    </dgm:pt>
    <dgm:pt modelId="{268149CF-76C6-4667-A3FC-3568180E892E}" type="pres">
      <dgm:prSet presAssocID="{E8752440-C067-48D5-AD39-74DFA5C06EAA}" presName="iconRect" presStyleLbl="node1" presStyleIdx="0" presStyleCnt="2" custLinFactY="-8699" custLinFactNeighborX="-14357"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4FA1FCCD-C53D-408A-B4D6-6B5B391CA41C}" type="pres">
      <dgm:prSet presAssocID="{E8752440-C067-48D5-AD39-74DFA5C06EAA}" presName="spaceRect" presStyleCnt="0"/>
      <dgm:spPr/>
    </dgm:pt>
    <dgm:pt modelId="{20CE8F95-CF48-47E4-B64B-5741D88C5888}" type="pres">
      <dgm:prSet presAssocID="{E8752440-C067-48D5-AD39-74DFA5C06EAA}" presName="parTx" presStyleLbl="revTx" presStyleIdx="0" presStyleCnt="2" custLinFactNeighborX="-2635" custLinFactNeighborY="-54167">
        <dgm:presLayoutVars>
          <dgm:chMax val="0"/>
          <dgm:chPref val="0"/>
        </dgm:presLayoutVars>
      </dgm:prSet>
      <dgm:spPr/>
    </dgm:pt>
    <dgm:pt modelId="{9DD8C341-CCE3-4558-A55C-144E7B9A27AA}" type="pres">
      <dgm:prSet presAssocID="{16EA88F5-7188-4174-8D33-ADB35990D3A8}" presName="sibTrans" presStyleCnt="0"/>
      <dgm:spPr/>
    </dgm:pt>
    <dgm:pt modelId="{03E7B9D8-E57E-4687-8BED-791209156F8C}" type="pres">
      <dgm:prSet presAssocID="{77929191-030A-4C5D-B10B-C4329883B2BD}" presName="compNode" presStyleCnt="0"/>
      <dgm:spPr/>
    </dgm:pt>
    <dgm:pt modelId="{A43D922A-6541-408B-8082-2AE5E3F36C7B}" type="pres">
      <dgm:prSet presAssocID="{77929191-030A-4C5D-B10B-C4329883B2BD}" presName="bgRect" presStyleLbl="bgShp" presStyleIdx="1" presStyleCnt="2" custLinFactNeighborY="-12738"/>
      <dgm:spPr/>
    </dgm:pt>
    <dgm:pt modelId="{3858E1B6-3470-4644-ADE1-13911E70778A}" type="pres">
      <dgm:prSet presAssocID="{77929191-030A-4C5D-B10B-C4329883B2BD}" presName="iconRect" presStyleLbl="node1" presStyleIdx="1" presStyleCnt="2" custLinFactNeighborX="-39567" custLinFactNeighborY="-1005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381CBD12-017E-412D-8AC8-77D0AD0D778F}" type="pres">
      <dgm:prSet presAssocID="{77929191-030A-4C5D-B10B-C4329883B2BD}" presName="spaceRect" presStyleCnt="0"/>
      <dgm:spPr/>
    </dgm:pt>
    <dgm:pt modelId="{F9F34B0C-9B6D-45FD-A40E-EE6820DED8F0}" type="pres">
      <dgm:prSet presAssocID="{77929191-030A-4C5D-B10B-C4329883B2BD}" presName="parTx" presStyleLbl="revTx" presStyleIdx="1" presStyleCnt="2" custLinFactNeighborX="-9821" custLinFactNeighborY="-3050">
        <dgm:presLayoutVars>
          <dgm:chMax val="0"/>
          <dgm:chPref val="0"/>
        </dgm:presLayoutVars>
      </dgm:prSet>
      <dgm:spPr/>
    </dgm:pt>
  </dgm:ptLst>
  <dgm:cxnLst>
    <dgm:cxn modelId="{4C571A0F-83A8-4AB7-96D9-521266BAC2AF}" type="presOf" srcId="{06CE3DD3-8EC7-432E-9A2A-19B0C54BBA1F}" destId="{30A6E732-F035-4D5C-878B-7C6B0DDFFA78}" srcOrd="0" destOrd="0" presId="urn:microsoft.com/office/officeart/2018/2/layout/IconVerticalSolidList"/>
    <dgm:cxn modelId="{B80ADF45-B237-47D7-9CBB-99FE09FA6E59}" srcId="{06CE3DD3-8EC7-432E-9A2A-19B0C54BBA1F}" destId="{E8752440-C067-48D5-AD39-74DFA5C06EAA}" srcOrd="0" destOrd="0" parTransId="{3249BDFE-CED8-4C28-B789-1FB7DBCC8524}" sibTransId="{16EA88F5-7188-4174-8D33-ADB35990D3A8}"/>
    <dgm:cxn modelId="{B89DDBB9-19D4-4A51-B49D-E806BCF9254B}" type="presOf" srcId="{E8752440-C067-48D5-AD39-74DFA5C06EAA}" destId="{20CE8F95-CF48-47E4-B64B-5741D88C5888}" srcOrd="0" destOrd="0" presId="urn:microsoft.com/office/officeart/2018/2/layout/IconVerticalSolidList"/>
    <dgm:cxn modelId="{C580BCF5-1142-4A3C-8C8E-840927EE59EA}" type="presOf" srcId="{77929191-030A-4C5D-B10B-C4329883B2BD}" destId="{F9F34B0C-9B6D-45FD-A40E-EE6820DED8F0}" srcOrd="0" destOrd="0" presId="urn:microsoft.com/office/officeart/2018/2/layout/IconVerticalSolidList"/>
    <dgm:cxn modelId="{45EC15FB-AB23-4847-810E-6AE273705644}" srcId="{06CE3DD3-8EC7-432E-9A2A-19B0C54BBA1F}" destId="{77929191-030A-4C5D-B10B-C4329883B2BD}" srcOrd="1" destOrd="0" parTransId="{082B2073-643E-4ED4-8DC4-37C918741FA7}" sibTransId="{04C613D8-2F49-4E5F-ACB5-A14949F4B054}"/>
    <dgm:cxn modelId="{B109C44E-393D-4E10-A0CE-782B7E1AEEBA}" type="presParOf" srcId="{30A6E732-F035-4D5C-878B-7C6B0DDFFA78}" destId="{964A9F1C-903F-4543-9ED5-1B581E3B8AB8}" srcOrd="0" destOrd="0" presId="urn:microsoft.com/office/officeart/2018/2/layout/IconVerticalSolidList"/>
    <dgm:cxn modelId="{360738DB-A076-424A-A3E0-1DA0DDF80E0D}" type="presParOf" srcId="{964A9F1C-903F-4543-9ED5-1B581E3B8AB8}" destId="{5646111B-650E-4EDE-BD45-8BFCE1B5FA97}" srcOrd="0" destOrd="0" presId="urn:microsoft.com/office/officeart/2018/2/layout/IconVerticalSolidList"/>
    <dgm:cxn modelId="{79C4C94C-59B8-47B0-901F-9B4E637227C8}" type="presParOf" srcId="{964A9F1C-903F-4543-9ED5-1B581E3B8AB8}" destId="{268149CF-76C6-4667-A3FC-3568180E892E}" srcOrd="1" destOrd="0" presId="urn:microsoft.com/office/officeart/2018/2/layout/IconVerticalSolidList"/>
    <dgm:cxn modelId="{B7B50A91-F6B1-4531-90BD-39D33EBCA08C}" type="presParOf" srcId="{964A9F1C-903F-4543-9ED5-1B581E3B8AB8}" destId="{4FA1FCCD-C53D-408A-B4D6-6B5B391CA41C}" srcOrd="2" destOrd="0" presId="urn:microsoft.com/office/officeart/2018/2/layout/IconVerticalSolidList"/>
    <dgm:cxn modelId="{05A7EE15-97DD-441B-9550-9DFB794D2A42}" type="presParOf" srcId="{964A9F1C-903F-4543-9ED5-1B581E3B8AB8}" destId="{20CE8F95-CF48-47E4-B64B-5741D88C5888}" srcOrd="3" destOrd="0" presId="urn:microsoft.com/office/officeart/2018/2/layout/IconVerticalSolidList"/>
    <dgm:cxn modelId="{58B467B8-CE59-42C6-8D5C-F592F4882647}" type="presParOf" srcId="{30A6E732-F035-4D5C-878B-7C6B0DDFFA78}" destId="{9DD8C341-CCE3-4558-A55C-144E7B9A27AA}" srcOrd="1" destOrd="0" presId="urn:microsoft.com/office/officeart/2018/2/layout/IconVerticalSolidList"/>
    <dgm:cxn modelId="{AD12A38E-5D77-4A04-9D87-2DC633AC14FB}" type="presParOf" srcId="{30A6E732-F035-4D5C-878B-7C6B0DDFFA78}" destId="{03E7B9D8-E57E-4687-8BED-791209156F8C}" srcOrd="2" destOrd="0" presId="urn:microsoft.com/office/officeart/2018/2/layout/IconVerticalSolidList"/>
    <dgm:cxn modelId="{9E59C9B7-4FEA-4FC7-BCDE-89424AF550D6}" type="presParOf" srcId="{03E7B9D8-E57E-4687-8BED-791209156F8C}" destId="{A43D922A-6541-408B-8082-2AE5E3F36C7B}" srcOrd="0" destOrd="0" presId="urn:microsoft.com/office/officeart/2018/2/layout/IconVerticalSolidList"/>
    <dgm:cxn modelId="{E116D77B-7669-4F1D-A01B-E10A599FBD66}" type="presParOf" srcId="{03E7B9D8-E57E-4687-8BED-791209156F8C}" destId="{3858E1B6-3470-4644-ADE1-13911E70778A}" srcOrd="1" destOrd="0" presId="urn:microsoft.com/office/officeart/2018/2/layout/IconVerticalSolidList"/>
    <dgm:cxn modelId="{A20068B3-2B33-4CE4-AB61-E076BDACCFC6}" type="presParOf" srcId="{03E7B9D8-E57E-4687-8BED-791209156F8C}" destId="{381CBD12-017E-412D-8AC8-77D0AD0D778F}" srcOrd="2" destOrd="0" presId="urn:microsoft.com/office/officeart/2018/2/layout/IconVerticalSolidList"/>
    <dgm:cxn modelId="{DC519BE1-93BF-4281-966B-753E0B7936A3}" type="presParOf" srcId="{03E7B9D8-E57E-4687-8BED-791209156F8C}" destId="{F9F34B0C-9B6D-45FD-A40E-EE6820DED8F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9A31DC-5E82-4DB5-90F6-5ACE046FC4A0}"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2EF5889B-EEFF-4836-A956-71EB05F4AB4D}">
      <dgm:prSet custT="1"/>
      <dgm:spPr/>
      <dgm:t>
        <a:bodyPr/>
        <a:lstStyle/>
        <a:p>
          <a:r>
            <a:rPr lang="en-US" sz="2000" b="1" dirty="0"/>
            <a:t>Handled missing values </a:t>
          </a:r>
          <a:endParaRPr lang="en-US" sz="2000" dirty="0"/>
        </a:p>
      </dgm:t>
    </dgm:pt>
    <dgm:pt modelId="{6E3523A4-69A9-4AA3-BA76-EC2505735F1F}" type="parTrans" cxnId="{61C23CD2-0B21-4920-A67E-FB7D8054E7CD}">
      <dgm:prSet/>
      <dgm:spPr/>
      <dgm:t>
        <a:bodyPr/>
        <a:lstStyle/>
        <a:p>
          <a:endParaRPr lang="en-US"/>
        </a:p>
      </dgm:t>
    </dgm:pt>
    <dgm:pt modelId="{90D711D3-E47A-4C16-A654-01504FA98A5F}" type="sibTrans" cxnId="{61C23CD2-0B21-4920-A67E-FB7D8054E7CD}">
      <dgm:prSet/>
      <dgm:spPr/>
      <dgm:t>
        <a:bodyPr/>
        <a:lstStyle/>
        <a:p>
          <a:endParaRPr lang="en-US"/>
        </a:p>
      </dgm:t>
    </dgm:pt>
    <dgm:pt modelId="{52196E3F-EB12-4715-AAA7-200A9274706F}">
      <dgm:prSet custT="1"/>
      <dgm:spPr/>
      <dgm:t>
        <a:bodyPr/>
        <a:lstStyle/>
        <a:p>
          <a:r>
            <a:rPr lang="en-US" sz="2000" b="1" dirty="0"/>
            <a:t>Data Standardized</a:t>
          </a:r>
          <a:endParaRPr lang="en-US" sz="2000" dirty="0"/>
        </a:p>
      </dgm:t>
    </dgm:pt>
    <dgm:pt modelId="{B262C6C9-227E-41B9-AB32-FFEE9E0BE434}" type="parTrans" cxnId="{0CF99AE9-12EE-4DA0-99E1-180F379DB05E}">
      <dgm:prSet/>
      <dgm:spPr/>
      <dgm:t>
        <a:bodyPr/>
        <a:lstStyle/>
        <a:p>
          <a:endParaRPr lang="en-US"/>
        </a:p>
      </dgm:t>
    </dgm:pt>
    <dgm:pt modelId="{49212CF5-355C-4D7C-9168-FC03A1970043}" type="sibTrans" cxnId="{0CF99AE9-12EE-4DA0-99E1-180F379DB05E}">
      <dgm:prSet/>
      <dgm:spPr/>
      <dgm:t>
        <a:bodyPr/>
        <a:lstStyle/>
        <a:p>
          <a:endParaRPr lang="en-US"/>
        </a:p>
      </dgm:t>
    </dgm:pt>
    <dgm:pt modelId="{FE18E549-0317-4C3B-BBC7-AF4DFDEA6015}">
      <dgm:prSet custT="1"/>
      <dgm:spPr/>
      <dgm: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Dataset validated for duplicate Records</a:t>
          </a:r>
        </a:p>
      </dgm:t>
    </dgm:pt>
    <dgm:pt modelId="{17684B9D-936A-4105-9998-AFBFEDFD1936}" type="parTrans" cxnId="{0F46AD10-1074-45E9-A7E0-165C5E792579}">
      <dgm:prSet/>
      <dgm:spPr/>
      <dgm:t>
        <a:bodyPr/>
        <a:lstStyle/>
        <a:p>
          <a:endParaRPr lang="en-US"/>
        </a:p>
      </dgm:t>
    </dgm:pt>
    <dgm:pt modelId="{10337AC8-559B-455F-8038-13C4761F54D2}" type="sibTrans" cxnId="{0F46AD10-1074-45E9-A7E0-165C5E792579}">
      <dgm:prSet/>
      <dgm:spPr/>
      <dgm:t>
        <a:bodyPr/>
        <a:lstStyle/>
        <a:p>
          <a:endParaRPr lang="en-US"/>
        </a:p>
      </dgm:t>
    </dgm:pt>
    <dgm:pt modelId="{62780939-5360-48AF-87A7-7F3E273DC8C2}">
      <dgm:prSet custT="1"/>
      <dgm:spPr/>
      <dgm: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Replacing the identified values with the chosen central tendency measure</a:t>
          </a:r>
        </a:p>
        <a:p>
          <a:pPr marL="0" lvl="0" indent="0" algn="l" defTabSz="1422400">
            <a:lnSpc>
              <a:spcPct val="90000"/>
            </a:lnSpc>
            <a:spcBef>
              <a:spcPct val="0"/>
            </a:spcBef>
            <a:spcAft>
              <a:spcPct val="35000"/>
            </a:spcAft>
            <a:buNone/>
          </a:pPr>
          <a:endParaRPr lang="en-US" sz="3200" b="1" kern="1200" dirty="0">
            <a:solidFill>
              <a:prstClr val="black">
                <a:hueOff val="0"/>
                <a:satOff val="0"/>
                <a:lumOff val="0"/>
                <a:alphaOff val="0"/>
              </a:prstClr>
            </a:solidFill>
            <a:latin typeface="Avenir Next LT Pro Light"/>
            <a:ea typeface="+mn-ea"/>
            <a:cs typeface="+mn-cs"/>
          </a:endParaRPr>
        </a:p>
      </dgm:t>
    </dgm:pt>
    <dgm:pt modelId="{1283EEFC-90A2-4DE5-B284-14CCBC48C0EB}" type="parTrans" cxnId="{B399E1C0-2B9E-4282-924F-CA916EA80D71}">
      <dgm:prSet/>
      <dgm:spPr/>
      <dgm:t>
        <a:bodyPr/>
        <a:lstStyle/>
        <a:p>
          <a:endParaRPr lang="en-US"/>
        </a:p>
      </dgm:t>
    </dgm:pt>
    <dgm:pt modelId="{AA8F7904-82A3-4C11-8EDC-76988035071E}" type="sibTrans" cxnId="{B399E1C0-2B9E-4282-924F-CA916EA80D71}">
      <dgm:prSet/>
      <dgm:spPr/>
      <dgm:t>
        <a:bodyPr/>
        <a:lstStyle/>
        <a:p>
          <a:endParaRPr lang="en-US"/>
        </a:p>
      </dgm:t>
    </dgm:pt>
    <dgm:pt modelId="{D60E092D-EC83-4E45-BC65-DAD93CDDBA19}">
      <dgm:prSet custT="1"/>
      <dgm:spPr/>
      <dgm: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Outliers Treatment</a:t>
          </a:r>
        </a:p>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Identified through Box plots and treated through IQR method</a:t>
          </a:r>
        </a:p>
      </dgm:t>
    </dgm:pt>
    <dgm:pt modelId="{5670CEF8-B47E-4AF1-8754-ECD9C5845BCD}" type="parTrans" cxnId="{709386E4-7343-4D05-A4F0-7AC41FB3235D}">
      <dgm:prSet/>
      <dgm:spPr/>
      <dgm:t>
        <a:bodyPr/>
        <a:lstStyle/>
        <a:p>
          <a:endParaRPr lang="en-US"/>
        </a:p>
      </dgm:t>
    </dgm:pt>
    <dgm:pt modelId="{BA899094-8AE7-4376-824D-F7EE912D7B5E}" type="sibTrans" cxnId="{709386E4-7343-4D05-A4F0-7AC41FB3235D}">
      <dgm:prSet/>
      <dgm:spPr/>
      <dgm:t>
        <a:bodyPr/>
        <a:lstStyle/>
        <a:p>
          <a:endParaRPr lang="en-US"/>
        </a:p>
      </dgm:t>
    </dgm:pt>
    <dgm:pt modelId="{A0C70944-00B7-4BB4-AFA6-03DBC348718D}" type="pres">
      <dgm:prSet presAssocID="{049A31DC-5E82-4DB5-90F6-5ACE046FC4A0}" presName="vert0" presStyleCnt="0">
        <dgm:presLayoutVars>
          <dgm:dir/>
          <dgm:animOne val="branch"/>
          <dgm:animLvl val="lvl"/>
        </dgm:presLayoutVars>
      </dgm:prSet>
      <dgm:spPr/>
    </dgm:pt>
    <dgm:pt modelId="{816C8E94-7CA1-4DFB-A380-A5B8701474D7}" type="pres">
      <dgm:prSet presAssocID="{2EF5889B-EEFF-4836-A956-71EB05F4AB4D}" presName="thickLine" presStyleLbl="alignNode1" presStyleIdx="0" presStyleCnt="5"/>
      <dgm:spPr/>
    </dgm:pt>
    <dgm:pt modelId="{52C1B2B8-9F6A-420E-AE7F-7770093BB147}" type="pres">
      <dgm:prSet presAssocID="{2EF5889B-EEFF-4836-A956-71EB05F4AB4D}" presName="horz1" presStyleCnt="0"/>
      <dgm:spPr/>
    </dgm:pt>
    <dgm:pt modelId="{B73F2092-BF18-41B3-9C41-4F840FFAC09F}" type="pres">
      <dgm:prSet presAssocID="{2EF5889B-EEFF-4836-A956-71EB05F4AB4D}" presName="tx1" presStyleLbl="revTx" presStyleIdx="0" presStyleCnt="5"/>
      <dgm:spPr/>
    </dgm:pt>
    <dgm:pt modelId="{886C9EDB-9A0B-498B-83FE-10AA11FF7EDE}" type="pres">
      <dgm:prSet presAssocID="{2EF5889B-EEFF-4836-A956-71EB05F4AB4D}" presName="vert1" presStyleCnt="0"/>
      <dgm:spPr/>
    </dgm:pt>
    <dgm:pt modelId="{53CDAB39-2126-49A7-B557-76E040762A1D}" type="pres">
      <dgm:prSet presAssocID="{62780939-5360-48AF-87A7-7F3E273DC8C2}" presName="thickLine" presStyleLbl="alignNode1" presStyleIdx="1" presStyleCnt="5"/>
      <dgm:spPr/>
    </dgm:pt>
    <dgm:pt modelId="{F4A62B5A-B05C-4088-B302-4FDF5D14A360}" type="pres">
      <dgm:prSet presAssocID="{62780939-5360-48AF-87A7-7F3E273DC8C2}" presName="horz1" presStyleCnt="0"/>
      <dgm:spPr/>
    </dgm:pt>
    <dgm:pt modelId="{51B9F246-202A-4C76-8A6E-03326626B8C2}" type="pres">
      <dgm:prSet presAssocID="{62780939-5360-48AF-87A7-7F3E273DC8C2}" presName="tx1" presStyleLbl="revTx" presStyleIdx="1" presStyleCnt="5"/>
      <dgm:spPr/>
    </dgm:pt>
    <dgm:pt modelId="{96FBD7FA-1226-4FD5-8E13-0406AD5BB52E}" type="pres">
      <dgm:prSet presAssocID="{62780939-5360-48AF-87A7-7F3E273DC8C2}" presName="vert1" presStyleCnt="0"/>
      <dgm:spPr/>
    </dgm:pt>
    <dgm:pt modelId="{839FBD72-94DC-4778-B6B0-6FADFA6B55FE}" type="pres">
      <dgm:prSet presAssocID="{D60E092D-EC83-4E45-BC65-DAD93CDDBA19}" presName="thickLine" presStyleLbl="alignNode1" presStyleIdx="2" presStyleCnt="5"/>
      <dgm:spPr/>
    </dgm:pt>
    <dgm:pt modelId="{994A5C93-0286-4E43-9288-644C0692439A}" type="pres">
      <dgm:prSet presAssocID="{D60E092D-EC83-4E45-BC65-DAD93CDDBA19}" presName="horz1" presStyleCnt="0"/>
      <dgm:spPr/>
    </dgm:pt>
    <dgm:pt modelId="{01F0F2C9-F348-4530-A25E-085EAEA033B6}" type="pres">
      <dgm:prSet presAssocID="{D60E092D-EC83-4E45-BC65-DAD93CDDBA19}" presName="tx1" presStyleLbl="revTx" presStyleIdx="2" presStyleCnt="5"/>
      <dgm:spPr/>
    </dgm:pt>
    <dgm:pt modelId="{2E5EEF65-3D9A-4652-9586-CC4E96F1CEED}" type="pres">
      <dgm:prSet presAssocID="{D60E092D-EC83-4E45-BC65-DAD93CDDBA19}" presName="vert1" presStyleCnt="0"/>
      <dgm:spPr/>
    </dgm:pt>
    <dgm:pt modelId="{01483C62-5FD2-475C-BFD8-2D0A2ECCBC6E}" type="pres">
      <dgm:prSet presAssocID="{FE18E549-0317-4C3B-BBC7-AF4DFDEA6015}" presName="thickLine" presStyleLbl="alignNode1" presStyleIdx="3" presStyleCnt="5"/>
      <dgm:spPr/>
    </dgm:pt>
    <dgm:pt modelId="{903A17EC-8660-4832-B7B2-987CCBE153F1}" type="pres">
      <dgm:prSet presAssocID="{FE18E549-0317-4C3B-BBC7-AF4DFDEA6015}" presName="horz1" presStyleCnt="0"/>
      <dgm:spPr/>
    </dgm:pt>
    <dgm:pt modelId="{0BDBC830-C0B1-4D06-AC46-9EA62F25BBCD}" type="pres">
      <dgm:prSet presAssocID="{FE18E549-0317-4C3B-BBC7-AF4DFDEA6015}" presName="tx1" presStyleLbl="revTx" presStyleIdx="3" presStyleCnt="5"/>
      <dgm:spPr/>
    </dgm:pt>
    <dgm:pt modelId="{392C28DA-080D-4E0F-B275-9367A7FEB856}" type="pres">
      <dgm:prSet presAssocID="{FE18E549-0317-4C3B-BBC7-AF4DFDEA6015}" presName="vert1" presStyleCnt="0"/>
      <dgm:spPr/>
    </dgm:pt>
    <dgm:pt modelId="{E1EEC176-A57F-4ADB-81D5-6D905C578FF1}" type="pres">
      <dgm:prSet presAssocID="{52196E3F-EB12-4715-AAA7-200A9274706F}" presName="thickLine" presStyleLbl="alignNode1" presStyleIdx="4" presStyleCnt="5"/>
      <dgm:spPr/>
    </dgm:pt>
    <dgm:pt modelId="{D1DCA1A0-4F65-42BD-8476-05C3A72CC23E}" type="pres">
      <dgm:prSet presAssocID="{52196E3F-EB12-4715-AAA7-200A9274706F}" presName="horz1" presStyleCnt="0"/>
      <dgm:spPr/>
    </dgm:pt>
    <dgm:pt modelId="{626E78B2-ADA8-4409-A558-157964BE39DD}" type="pres">
      <dgm:prSet presAssocID="{52196E3F-EB12-4715-AAA7-200A9274706F}" presName="tx1" presStyleLbl="revTx" presStyleIdx="4" presStyleCnt="5"/>
      <dgm:spPr/>
    </dgm:pt>
    <dgm:pt modelId="{8707D7E6-19BD-4BDA-B3D7-A4537B0F861A}" type="pres">
      <dgm:prSet presAssocID="{52196E3F-EB12-4715-AAA7-200A9274706F}" presName="vert1" presStyleCnt="0"/>
      <dgm:spPr/>
    </dgm:pt>
  </dgm:ptLst>
  <dgm:cxnLst>
    <dgm:cxn modelId="{0F46AD10-1074-45E9-A7E0-165C5E792579}" srcId="{049A31DC-5E82-4DB5-90F6-5ACE046FC4A0}" destId="{FE18E549-0317-4C3B-BBC7-AF4DFDEA6015}" srcOrd="3" destOrd="0" parTransId="{17684B9D-936A-4105-9998-AFBFEDFD1936}" sibTransId="{10337AC8-559B-455F-8038-13C4761F54D2}"/>
    <dgm:cxn modelId="{66BF1D34-DD4E-4305-9984-EC2C229ABDCB}" type="presOf" srcId="{049A31DC-5E82-4DB5-90F6-5ACE046FC4A0}" destId="{A0C70944-00B7-4BB4-AFA6-03DBC348718D}" srcOrd="0" destOrd="0" presId="urn:microsoft.com/office/officeart/2008/layout/LinedList"/>
    <dgm:cxn modelId="{21577C3A-8D6F-4F03-B1CC-4CA812A65FB3}" type="presOf" srcId="{2EF5889B-EEFF-4836-A956-71EB05F4AB4D}" destId="{B73F2092-BF18-41B3-9C41-4F840FFAC09F}" srcOrd="0" destOrd="0" presId="urn:microsoft.com/office/officeart/2008/layout/LinedList"/>
    <dgm:cxn modelId="{C1EFC13C-6C67-4602-BF16-C7B35EE074F0}" type="presOf" srcId="{52196E3F-EB12-4715-AAA7-200A9274706F}" destId="{626E78B2-ADA8-4409-A558-157964BE39DD}" srcOrd="0" destOrd="0" presId="urn:microsoft.com/office/officeart/2008/layout/LinedList"/>
    <dgm:cxn modelId="{47E77C81-2590-43A7-9E22-3ABFA6080055}" type="presOf" srcId="{FE18E549-0317-4C3B-BBC7-AF4DFDEA6015}" destId="{0BDBC830-C0B1-4D06-AC46-9EA62F25BBCD}" srcOrd="0" destOrd="0" presId="urn:microsoft.com/office/officeart/2008/layout/LinedList"/>
    <dgm:cxn modelId="{6A454684-E5C3-408E-940E-CF7C86D231EE}" type="presOf" srcId="{62780939-5360-48AF-87A7-7F3E273DC8C2}" destId="{51B9F246-202A-4C76-8A6E-03326626B8C2}" srcOrd="0" destOrd="0" presId="urn:microsoft.com/office/officeart/2008/layout/LinedList"/>
    <dgm:cxn modelId="{B399E1C0-2B9E-4282-924F-CA916EA80D71}" srcId="{049A31DC-5E82-4DB5-90F6-5ACE046FC4A0}" destId="{62780939-5360-48AF-87A7-7F3E273DC8C2}" srcOrd="1" destOrd="0" parTransId="{1283EEFC-90A2-4DE5-B284-14CCBC48C0EB}" sibTransId="{AA8F7904-82A3-4C11-8EDC-76988035071E}"/>
    <dgm:cxn modelId="{61C23CD2-0B21-4920-A67E-FB7D8054E7CD}" srcId="{049A31DC-5E82-4DB5-90F6-5ACE046FC4A0}" destId="{2EF5889B-EEFF-4836-A956-71EB05F4AB4D}" srcOrd="0" destOrd="0" parTransId="{6E3523A4-69A9-4AA3-BA76-EC2505735F1F}" sibTransId="{90D711D3-E47A-4C16-A654-01504FA98A5F}"/>
    <dgm:cxn modelId="{AF51B7D4-9588-4AEA-B03D-5108F850AA68}" type="presOf" srcId="{D60E092D-EC83-4E45-BC65-DAD93CDDBA19}" destId="{01F0F2C9-F348-4530-A25E-085EAEA033B6}" srcOrd="0" destOrd="0" presId="urn:microsoft.com/office/officeart/2008/layout/LinedList"/>
    <dgm:cxn modelId="{709386E4-7343-4D05-A4F0-7AC41FB3235D}" srcId="{049A31DC-5E82-4DB5-90F6-5ACE046FC4A0}" destId="{D60E092D-EC83-4E45-BC65-DAD93CDDBA19}" srcOrd="2" destOrd="0" parTransId="{5670CEF8-B47E-4AF1-8754-ECD9C5845BCD}" sibTransId="{BA899094-8AE7-4376-824D-F7EE912D7B5E}"/>
    <dgm:cxn modelId="{0CF99AE9-12EE-4DA0-99E1-180F379DB05E}" srcId="{049A31DC-5E82-4DB5-90F6-5ACE046FC4A0}" destId="{52196E3F-EB12-4715-AAA7-200A9274706F}" srcOrd="4" destOrd="0" parTransId="{B262C6C9-227E-41B9-AB32-FFEE9E0BE434}" sibTransId="{49212CF5-355C-4D7C-9168-FC03A1970043}"/>
    <dgm:cxn modelId="{F5D1AB3E-111F-496B-B56F-3472D842E422}" type="presParOf" srcId="{A0C70944-00B7-4BB4-AFA6-03DBC348718D}" destId="{816C8E94-7CA1-4DFB-A380-A5B8701474D7}" srcOrd="0" destOrd="0" presId="urn:microsoft.com/office/officeart/2008/layout/LinedList"/>
    <dgm:cxn modelId="{97F0D33B-252D-4184-8AD9-31D09D4071DD}" type="presParOf" srcId="{A0C70944-00B7-4BB4-AFA6-03DBC348718D}" destId="{52C1B2B8-9F6A-420E-AE7F-7770093BB147}" srcOrd="1" destOrd="0" presId="urn:microsoft.com/office/officeart/2008/layout/LinedList"/>
    <dgm:cxn modelId="{F48CAC91-9DA5-4975-8D84-B8F33F47D7F9}" type="presParOf" srcId="{52C1B2B8-9F6A-420E-AE7F-7770093BB147}" destId="{B73F2092-BF18-41B3-9C41-4F840FFAC09F}" srcOrd="0" destOrd="0" presId="urn:microsoft.com/office/officeart/2008/layout/LinedList"/>
    <dgm:cxn modelId="{39A9676C-C181-41DC-9686-EDC058B95E40}" type="presParOf" srcId="{52C1B2B8-9F6A-420E-AE7F-7770093BB147}" destId="{886C9EDB-9A0B-498B-83FE-10AA11FF7EDE}" srcOrd="1" destOrd="0" presId="urn:microsoft.com/office/officeart/2008/layout/LinedList"/>
    <dgm:cxn modelId="{16331451-BAE7-4DFE-875A-E34642538FE3}" type="presParOf" srcId="{A0C70944-00B7-4BB4-AFA6-03DBC348718D}" destId="{53CDAB39-2126-49A7-B557-76E040762A1D}" srcOrd="2" destOrd="0" presId="urn:microsoft.com/office/officeart/2008/layout/LinedList"/>
    <dgm:cxn modelId="{0C19D4E6-1D8F-4476-8064-080E5BB8BD59}" type="presParOf" srcId="{A0C70944-00B7-4BB4-AFA6-03DBC348718D}" destId="{F4A62B5A-B05C-4088-B302-4FDF5D14A360}" srcOrd="3" destOrd="0" presId="urn:microsoft.com/office/officeart/2008/layout/LinedList"/>
    <dgm:cxn modelId="{3FA66617-BF02-465C-92FD-A8F8251AF3D7}" type="presParOf" srcId="{F4A62B5A-B05C-4088-B302-4FDF5D14A360}" destId="{51B9F246-202A-4C76-8A6E-03326626B8C2}" srcOrd="0" destOrd="0" presId="urn:microsoft.com/office/officeart/2008/layout/LinedList"/>
    <dgm:cxn modelId="{B2B4EDB0-9DE3-49C6-B4B7-BEBE45CF13BF}" type="presParOf" srcId="{F4A62B5A-B05C-4088-B302-4FDF5D14A360}" destId="{96FBD7FA-1226-4FD5-8E13-0406AD5BB52E}" srcOrd="1" destOrd="0" presId="urn:microsoft.com/office/officeart/2008/layout/LinedList"/>
    <dgm:cxn modelId="{0B0C7B33-0CB9-42C5-93A6-48D5DA1C47E4}" type="presParOf" srcId="{A0C70944-00B7-4BB4-AFA6-03DBC348718D}" destId="{839FBD72-94DC-4778-B6B0-6FADFA6B55FE}" srcOrd="4" destOrd="0" presId="urn:microsoft.com/office/officeart/2008/layout/LinedList"/>
    <dgm:cxn modelId="{B37FE0E7-B825-4701-82E6-229834222906}" type="presParOf" srcId="{A0C70944-00B7-4BB4-AFA6-03DBC348718D}" destId="{994A5C93-0286-4E43-9288-644C0692439A}" srcOrd="5" destOrd="0" presId="urn:microsoft.com/office/officeart/2008/layout/LinedList"/>
    <dgm:cxn modelId="{DB5208E8-781F-44BB-878C-5078B94920A4}" type="presParOf" srcId="{994A5C93-0286-4E43-9288-644C0692439A}" destId="{01F0F2C9-F348-4530-A25E-085EAEA033B6}" srcOrd="0" destOrd="0" presId="urn:microsoft.com/office/officeart/2008/layout/LinedList"/>
    <dgm:cxn modelId="{5611377E-2C12-4E45-8A26-DBCD9243054B}" type="presParOf" srcId="{994A5C93-0286-4E43-9288-644C0692439A}" destId="{2E5EEF65-3D9A-4652-9586-CC4E96F1CEED}" srcOrd="1" destOrd="0" presId="urn:microsoft.com/office/officeart/2008/layout/LinedList"/>
    <dgm:cxn modelId="{9A3EBC3A-1F4D-4CFA-A1EF-C34114775781}" type="presParOf" srcId="{A0C70944-00B7-4BB4-AFA6-03DBC348718D}" destId="{01483C62-5FD2-475C-BFD8-2D0A2ECCBC6E}" srcOrd="6" destOrd="0" presId="urn:microsoft.com/office/officeart/2008/layout/LinedList"/>
    <dgm:cxn modelId="{42D09489-D0F5-4C5D-B879-3270F4A05FCA}" type="presParOf" srcId="{A0C70944-00B7-4BB4-AFA6-03DBC348718D}" destId="{903A17EC-8660-4832-B7B2-987CCBE153F1}" srcOrd="7" destOrd="0" presId="urn:microsoft.com/office/officeart/2008/layout/LinedList"/>
    <dgm:cxn modelId="{898B3C1E-FFA0-4FD3-87C1-B4426967B3FC}" type="presParOf" srcId="{903A17EC-8660-4832-B7B2-987CCBE153F1}" destId="{0BDBC830-C0B1-4D06-AC46-9EA62F25BBCD}" srcOrd="0" destOrd="0" presId="urn:microsoft.com/office/officeart/2008/layout/LinedList"/>
    <dgm:cxn modelId="{1875DEC3-2FA4-4070-9F91-7486FAE35A6E}" type="presParOf" srcId="{903A17EC-8660-4832-B7B2-987CCBE153F1}" destId="{392C28DA-080D-4E0F-B275-9367A7FEB856}" srcOrd="1" destOrd="0" presId="urn:microsoft.com/office/officeart/2008/layout/LinedList"/>
    <dgm:cxn modelId="{628C610F-2CE4-4BDA-9300-92E8B1FA29A4}" type="presParOf" srcId="{A0C70944-00B7-4BB4-AFA6-03DBC348718D}" destId="{E1EEC176-A57F-4ADB-81D5-6D905C578FF1}" srcOrd="8" destOrd="0" presId="urn:microsoft.com/office/officeart/2008/layout/LinedList"/>
    <dgm:cxn modelId="{B0F58737-FC7D-468D-9565-16A7BD36C1A8}" type="presParOf" srcId="{A0C70944-00B7-4BB4-AFA6-03DBC348718D}" destId="{D1DCA1A0-4F65-42BD-8476-05C3A72CC23E}" srcOrd="9" destOrd="0" presId="urn:microsoft.com/office/officeart/2008/layout/LinedList"/>
    <dgm:cxn modelId="{A819DAE4-BDC9-41B9-885E-B8349AFA4149}" type="presParOf" srcId="{D1DCA1A0-4F65-42BD-8476-05C3A72CC23E}" destId="{626E78B2-ADA8-4409-A558-157964BE39DD}" srcOrd="0" destOrd="0" presId="urn:microsoft.com/office/officeart/2008/layout/LinedList"/>
    <dgm:cxn modelId="{91677AC3-A558-4EA7-B112-D1123699B11C}" type="presParOf" srcId="{D1DCA1A0-4F65-42BD-8476-05C3A72CC23E}" destId="{8707D7E6-19BD-4BDA-B3D7-A4537B0F861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6111B-650E-4EDE-BD45-8BFCE1B5FA97}">
      <dsp:nvSpPr>
        <dsp:cNvPr id="0" name=""/>
        <dsp:cNvSpPr/>
      </dsp:nvSpPr>
      <dsp:spPr>
        <a:xfrm>
          <a:off x="0" y="0"/>
          <a:ext cx="9875520" cy="1897760"/>
        </a:xfrm>
        <a:prstGeom prst="roundRect">
          <a:avLst>
            <a:gd name="adj" fmla="val 10000"/>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268149CF-76C6-4667-A3FC-3568180E892E}">
      <dsp:nvSpPr>
        <dsp:cNvPr id="0" name=""/>
        <dsp:cNvSpPr/>
      </dsp:nvSpPr>
      <dsp:spPr>
        <a:xfrm>
          <a:off x="424218" y="0"/>
          <a:ext cx="1043768" cy="10437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20CE8F95-CF48-47E4-B64B-5741D88C5888}">
      <dsp:nvSpPr>
        <dsp:cNvPr id="0" name=""/>
        <dsp:cNvSpPr/>
      </dsp:nvSpPr>
      <dsp:spPr>
        <a:xfrm>
          <a:off x="1992895" y="0"/>
          <a:ext cx="7552848" cy="189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846" tIns="200846" rIns="200846" bIns="200846" numCol="1" spcCol="1270" anchor="ctr" anchorCtr="0">
          <a:noAutofit/>
        </a:bodyPr>
        <a:lstStyle/>
        <a:p>
          <a:pPr marL="0" lvl="0" indent="0" algn="l" defTabSz="889000">
            <a:lnSpc>
              <a:spcPct val="100000"/>
            </a:lnSpc>
            <a:spcBef>
              <a:spcPct val="0"/>
            </a:spcBef>
            <a:spcAft>
              <a:spcPct val="35000"/>
            </a:spcAft>
            <a:buNone/>
          </a:pPr>
          <a:r>
            <a:rPr lang="en-US" sz="2000" b="1" kern="1200" dirty="0"/>
            <a:t>Data Description &amp; Source</a:t>
          </a:r>
        </a:p>
        <a:p>
          <a:pPr marL="0" lvl="0" indent="0" algn="l" defTabSz="889000">
            <a:lnSpc>
              <a:spcPct val="100000"/>
            </a:lnSpc>
            <a:spcBef>
              <a:spcPct val="0"/>
            </a:spcBef>
            <a:spcAft>
              <a:spcPct val="35000"/>
            </a:spcAft>
            <a:buNone/>
          </a:pPr>
          <a:r>
            <a:rPr lang="en-US" sz="1400" kern="1200" dirty="0" err="1"/>
            <a:t>solarpowergeneration</a:t>
          </a:r>
          <a:r>
            <a:rPr lang="en-US" sz="1400" kern="1200" dirty="0"/>
            <a:t> </a:t>
          </a:r>
        </a:p>
        <a:p>
          <a:pPr marL="0" lvl="0" indent="0" algn="l" defTabSz="889000">
            <a:lnSpc>
              <a:spcPct val="100000"/>
            </a:lnSpc>
            <a:spcBef>
              <a:spcPct val="0"/>
            </a:spcBef>
            <a:spcAft>
              <a:spcPct val="35000"/>
            </a:spcAft>
            <a:buNone/>
          </a:pPr>
          <a:r>
            <a:rPr lang="en-US" sz="1400" kern="1200" dirty="0"/>
            <a:t>(2) (1).csv </a:t>
          </a:r>
        </a:p>
        <a:p>
          <a:pPr marL="0" lvl="0" indent="0" algn="l" defTabSz="889000">
            <a:lnSpc>
              <a:spcPct val="100000"/>
            </a:lnSpc>
            <a:spcBef>
              <a:spcPct val="0"/>
            </a:spcBef>
            <a:spcAft>
              <a:spcPct val="35000"/>
            </a:spcAft>
            <a:buNone/>
          </a:pPr>
          <a:r>
            <a:rPr lang="en-US" sz="1400" b="1" kern="1200" dirty="0"/>
            <a:t>Features</a:t>
          </a:r>
        </a:p>
        <a:p>
          <a:pPr marL="0" lvl="0" indent="0" algn="l" defTabSz="889000">
            <a:lnSpc>
              <a:spcPct val="100000"/>
            </a:lnSpc>
            <a:spcBef>
              <a:spcPct val="0"/>
            </a:spcBef>
            <a:spcAft>
              <a:spcPct val="35000"/>
            </a:spcAft>
            <a:buNone/>
          </a:pPr>
          <a:r>
            <a:rPr lang="en-US" sz="1050" b="1" i="0" u="none" kern="1200" dirty="0"/>
            <a:t>distance-to-solar-noon	temperature	wind-direction	wind-speed	sky-cover	visibility	humidity	average-wind-speed-(period)	average-pressure-(period)</a:t>
          </a:r>
          <a:r>
            <a:rPr lang="en-US" sz="1400" b="0" i="0" u="none" kern="1200" dirty="0"/>
            <a:t>	</a:t>
          </a:r>
          <a:endParaRPr lang="en-US" sz="1400" kern="1200" dirty="0"/>
        </a:p>
      </dsp:txBody>
      <dsp:txXfrm>
        <a:off x="1992895" y="0"/>
        <a:ext cx="7552848" cy="1897760"/>
      </dsp:txXfrm>
    </dsp:sp>
    <dsp:sp modelId="{A43D922A-6541-408B-8082-2AE5E3F36C7B}">
      <dsp:nvSpPr>
        <dsp:cNvPr id="0" name=""/>
        <dsp:cNvSpPr/>
      </dsp:nvSpPr>
      <dsp:spPr>
        <a:xfrm>
          <a:off x="0" y="1927629"/>
          <a:ext cx="9875520" cy="1897760"/>
        </a:xfrm>
        <a:prstGeom prst="roundRect">
          <a:avLst>
            <a:gd name="adj" fmla="val 10000"/>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3858E1B6-3470-4644-ADE1-13911E70778A}">
      <dsp:nvSpPr>
        <dsp:cNvPr id="0" name=""/>
        <dsp:cNvSpPr/>
      </dsp:nvSpPr>
      <dsp:spPr>
        <a:xfrm>
          <a:off x="161084" y="2491369"/>
          <a:ext cx="1043768" cy="10437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9F34B0C-9B6D-45FD-A40E-EE6820DED8F0}">
      <dsp:nvSpPr>
        <dsp:cNvPr id="0" name=""/>
        <dsp:cNvSpPr/>
      </dsp:nvSpPr>
      <dsp:spPr>
        <a:xfrm>
          <a:off x="1450148" y="2111484"/>
          <a:ext cx="7552848" cy="189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846" tIns="200846" rIns="200846" bIns="200846" numCol="1" spcCol="1270" anchor="ctr" anchorCtr="0">
          <a:noAutofit/>
        </a:bodyPr>
        <a:lstStyle/>
        <a:p>
          <a:pPr marL="0" lvl="0" indent="0" algn="l" defTabSz="1111250">
            <a:lnSpc>
              <a:spcPct val="100000"/>
            </a:lnSpc>
            <a:spcBef>
              <a:spcPct val="0"/>
            </a:spcBef>
            <a:spcAft>
              <a:spcPct val="35000"/>
            </a:spcAft>
            <a:buNone/>
          </a:pPr>
          <a:r>
            <a:rPr lang="en-US" sz="2500" kern="1200" dirty="0"/>
            <a:t>       </a:t>
          </a:r>
          <a:r>
            <a:rPr lang="en-US" sz="2000" b="1" kern="1200" dirty="0"/>
            <a:t>Target variable</a:t>
          </a:r>
          <a:r>
            <a:rPr lang="en-US" sz="2500" b="1" kern="1200" dirty="0"/>
            <a:t>: </a:t>
          </a:r>
          <a:r>
            <a:rPr lang="en-US" sz="1800" b="1" kern="1200" dirty="0"/>
            <a:t>power-generated</a:t>
          </a:r>
          <a:r>
            <a:rPr lang="en-US" sz="1800" b="0" kern="1200" dirty="0"/>
            <a:t>:</a:t>
          </a:r>
        </a:p>
      </dsp:txBody>
      <dsp:txXfrm>
        <a:off x="1450148" y="2111484"/>
        <a:ext cx="7552848" cy="18977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C8E94-7CA1-4DFB-A380-A5B8701474D7}">
      <dsp:nvSpPr>
        <dsp:cNvPr id="0" name=""/>
        <dsp:cNvSpPr/>
      </dsp:nvSpPr>
      <dsp:spPr>
        <a:xfrm>
          <a:off x="0" y="496"/>
          <a:ext cx="99778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3F2092-BF18-41B3-9C41-4F840FFAC09F}">
      <dsp:nvSpPr>
        <dsp:cNvPr id="0" name=""/>
        <dsp:cNvSpPr/>
      </dsp:nvSpPr>
      <dsp:spPr>
        <a:xfrm>
          <a:off x="0" y="496"/>
          <a:ext cx="9977838" cy="813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Handled missing values </a:t>
          </a:r>
          <a:endParaRPr lang="en-US" sz="2000" kern="1200" dirty="0"/>
        </a:p>
      </dsp:txBody>
      <dsp:txXfrm>
        <a:off x="0" y="496"/>
        <a:ext cx="9977838" cy="813236"/>
      </dsp:txXfrm>
    </dsp:sp>
    <dsp:sp modelId="{53CDAB39-2126-49A7-B557-76E040762A1D}">
      <dsp:nvSpPr>
        <dsp:cNvPr id="0" name=""/>
        <dsp:cNvSpPr/>
      </dsp:nvSpPr>
      <dsp:spPr>
        <a:xfrm>
          <a:off x="0" y="813732"/>
          <a:ext cx="99778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B9F246-202A-4C76-8A6E-03326626B8C2}">
      <dsp:nvSpPr>
        <dsp:cNvPr id="0" name=""/>
        <dsp:cNvSpPr/>
      </dsp:nvSpPr>
      <dsp:spPr>
        <a:xfrm>
          <a:off x="0" y="813732"/>
          <a:ext cx="9977838" cy="813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Replacing the identified values with the chosen central tendency measure</a:t>
          </a:r>
        </a:p>
        <a:p>
          <a:pPr marL="0" lvl="0" indent="0" algn="l" defTabSz="1422400">
            <a:lnSpc>
              <a:spcPct val="90000"/>
            </a:lnSpc>
            <a:spcBef>
              <a:spcPct val="0"/>
            </a:spcBef>
            <a:spcAft>
              <a:spcPct val="35000"/>
            </a:spcAft>
            <a:buNone/>
          </a:pPr>
          <a:endParaRPr lang="en-US" sz="3200" b="1" kern="1200" dirty="0">
            <a:solidFill>
              <a:prstClr val="black">
                <a:hueOff val="0"/>
                <a:satOff val="0"/>
                <a:lumOff val="0"/>
                <a:alphaOff val="0"/>
              </a:prstClr>
            </a:solidFill>
            <a:latin typeface="Avenir Next LT Pro Light"/>
            <a:ea typeface="+mn-ea"/>
            <a:cs typeface="+mn-cs"/>
          </a:endParaRPr>
        </a:p>
      </dsp:txBody>
      <dsp:txXfrm>
        <a:off x="0" y="813732"/>
        <a:ext cx="9977838" cy="813236"/>
      </dsp:txXfrm>
    </dsp:sp>
    <dsp:sp modelId="{839FBD72-94DC-4778-B6B0-6FADFA6B55FE}">
      <dsp:nvSpPr>
        <dsp:cNvPr id="0" name=""/>
        <dsp:cNvSpPr/>
      </dsp:nvSpPr>
      <dsp:spPr>
        <a:xfrm>
          <a:off x="0" y="1626969"/>
          <a:ext cx="99778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F0F2C9-F348-4530-A25E-085EAEA033B6}">
      <dsp:nvSpPr>
        <dsp:cNvPr id="0" name=""/>
        <dsp:cNvSpPr/>
      </dsp:nvSpPr>
      <dsp:spPr>
        <a:xfrm>
          <a:off x="0" y="1626969"/>
          <a:ext cx="9977838" cy="813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Outliers Treatment</a:t>
          </a:r>
        </a:p>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Identified through Box plots and treated through IQR method</a:t>
          </a:r>
        </a:p>
      </dsp:txBody>
      <dsp:txXfrm>
        <a:off x="0" y="1626969"/>
        <a:ext cx="9977838" cy="813236"/>
      </dsp:txXfrm>
    </dsp:sp>
    <dsp:sp modelId="{01483C62-5FD2-475C-BFD8-2D0A2ECCBC6E}">
      <dsp:nvSpPr>
        <dsp:cNvPr id="0" name=""/>
        <dsp:cNvSpPr/>
      </dsp:nvSpPr>
      <dsp:spPr>
        <a:xfrm>
          <a:off x="0" y="2440205"/>
          <a:ext cx="99778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DBC830-C0B1-4D06-AC46-9EA62F25BBCD}">
      <dsp:nvSpPr>
        <dsp:cNvPr id="0" name=""/>
        <dsp:cNvSpPr/>
      </dsp:nvSpPr>
      <dsp:spPr>
        <a:xfrm>
          <a:off x="0" y="2440205"/>
          <a:ext cx="9977838" cy="813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1422400">
            <a:lnSpc>
              <a:spcPct val="90000"/>
            </a:lnSpc>
            <a:spcBef>
              <a:spcPct val="0"/>
            </a:spcBef>
            <a:spcAft>
              <a:spcPct val="35000"/>
            </a:spcAft>
            <a:buNone/>
          </a:pPr>
          <a:r>
            <a:rPr lang="en-US" sz="2000" b="1" kern="1200" dirty="0">
              <a:solidFill>
                <a:prstClr val="black">
                  <a:hueOff val="0"/>
                  <a:satOff val="0"/>
                  <a:lumOff val="0"/>
                  <a:alphaOff val="0"/>
                </a:prstClr>
              </a:solidFill>
              <a:latin typeface="Avenir Next LT Pro Light"/>
              <a:ea typeface="+mn-ea"/>
              <a:cs typeface="+mn-cs"/>
            </a:rPr>
            <a:t>Dataset validated for duplicate Records</a:t>
          </a:r>
        </a:p>
      </dsp:txBody>
      <dsp:txXfrm>
        <a:off x="0" y="2440205"/>
        <a:ext cx="9977838" cy="813236"/>
      </dsp:txXfrm>
    </dsp:sp>
    <dsp:sp modelId="{E1EEC176-A57F-4ADB-81D5-6D905C578FF1}">
      <dsp:nvSpPr>
        <dsp:cNvPr id="0" name=""/>
        <dsp:cNvSpPr/>
      </dsp:nvSpPr>
      <dsp:spPr>
        <a:xfrm>
          <a:off x="0" y="3253442"/>
          <a:ext cx="99778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6E78B2-ADA8-4409-A558-157964BE39DD}">
      <dsp:nvSpPr>
        <dsp:cNvPr id="0" name=""/>
        <dsp:cNvSpPr/>
      </dsp:nvSpPr>
      <dsp:spPr>
        <a:xfrm>
          <a:off x="0" y="3253442"/>
          <a:ext cx="9977838" cy="813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dirty="0"/>
            <a:t>Data Standardized</a:t>
          </a:r>
          <a:endParaRPr lang="en-US" sz="2000" kern="1200" dirty="0"/>
        </a:p>
      </dsp:txBody>
      <dsp:txXfrm>
        <a:off x="0" y="3253442"/>
        <a:ext cx="9977838" cy="8132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BB4A9B-566A-4867-9097-3E545FEE47E3}"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EC6DC-FD97-42E0-949B-96FDD06974F7}" type="slidenum">
              <a:rPr lang="en-US" smtClean="0"/>
              <a:t>‹#›</a:t>
            </a:fld>
            <a:endParaRPr lang="en-US"/>
          </a:p>
        </p:txBody>
      </p:sp>
    </p:spTree>
    <p:extLst>
      <p:ext uri="{BB962C8B-B14F-4D97-AF65-F5344CB8AC3E}">
        <p14:creationId xmlns:p14="http://schemas.microsoft.com/office/powerpoint/2010/main" val="2203240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Background images for a solar power prediction project often feature solar panels under sunlight, clear skies, and graphs or data overlays representing energy output. These visuals help convey the project's focus on renewable energy and data analysis. Effective imagery enhances understanding and engagement in presentations.</a:t>
            </a:r>
          </a:p>
        </p:txBody>
      </p:sp>
      <p:sp>
        <p:nvSpPr>
          <p:cNvPr id="4" name="Slide Number Placeholder 3"/>
          <p:cNvSpPr>
            <a:spLocks noGrp="1"/>
          </p:cNvSpPr>
          <p:nvPr>
            <p:ph type="sldNum" sz="quarter" idx="5"/>
          </p:nvPr>
        </p:nvSpPr>
        <p:spPr/>
        <p:txBody>
          <a:bodyPr/>
          <a:lstStyle/>
          <a:p>
            <a:fld id="{250EC6DC-FD97-42E0-949B-96FDD06974F7}" type="slidenum">
              <a:rPr lang="en-US" smtClean="0"/>
              <a:t>1</a:t>
            </a:fld>
            <a:endParaRPr lang="en-US"/>
          </a:p>
        </p:txBody>
      </p:sp>
    </p:spTree>
    <p:extLst>
      <p:ext uri="{BB962C8B-B14F-4D97-AF65-F5344CB8AC3E}">
        <p14:creationId xmlns:p14="http://schemas.microsoft.com/office/powerpoint/2010/main" val="693438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A weekly project timeline helps track progress and set clear milestones. Tasks are assigned and deadlines are established to ensure each phase is completed on schedule. Regular weekly reviews facilitate adjustments, improve accountability, and help the team maintain momentum toward achieving project goals.</a:t>
            </a:r>
          </a:p>
        </p:txBody>
      </p:sp>
      <p:sp>
        <p:nvSpPr>
          <p:cNvPr id="4" name="Slide Number Placeholder 3"/>
          <p:cNvSpPr>
            <a:spLocks noGrp="1"/>
          </p:cNvSpPr>
          <p:nvPr>
            <p:ph type="sldNum" sz="quarter" idx="5"/>
          </p:nvPr>
        </p:nvSpPr>
        <p:spPr/>
        <p:txBody>
          <a:bodyPr/>
          <a:lstStyle/>
          <a:p>
            <a:fld id="{250EC6DC-FD97-42E0-949B-96FDD06974F7}" type="slidenum">
              <a:rPr lang="en-US" smtClean="0"/>
              <a:t>4</a:t>
            </a:fld>
            <a:endParaRPr lang="en-US"/>
          </a:p>
        </p:txBody>
      </p:sp>
    </p:spTree>
    <p:extLst>
      <p:ext uri="{BB962C8B-B14F-4D97-AF65-F5344CB8AC3E}">
        <p14:creationId xmlns:p14="http://schemas.microsoft.com/office/powerpoint/2010/main" val="2469078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source: Microsoft 365 content library
Histograms and bar graphs help illustrate data trends and distributions clearly. Histograms are ideal for showing frequency of data within intervals, while bar graphs compare categories side by side. Including these visuals in your slide enhances understanding, highlights key differences, and makes complex information easier to interpret for your audience.</a:t>
            </a:r>
          </a:p>
        </p:txBody>
      </p:sp>
      <p:sp>
        <p:nvSpPr>
          <p:cNvPr id="4" name="Slide Number Placeholder 3"/>
          <p:cNvSpPr>
            <a:spLocks noGrp="1"/>
          </p:cNvSpPr>
          <p:nvPr>
            <p:ph type="sldNum" sz="quarter" idx="5"/>
          </p:nvPr>
        </p:nvSpPr>
        <p:spPr/>
        <p:txBody>
          <a:bodyPr/>
          <a:lstStyle/>
          <a:p>
            <a:fld id="{250EC6DC-FD97-42E0-949B-96FDD06974F7}" type="slidenum">
              <a:rPr lang="en-US" smtClean="0"/>
              <a:t>8</a:t>
            </a:fld>
            <a:endParaRPr lang="en-US"/>
          </a:p>
        </p:txBody>
      </p:sp>
    </p:spTree>
    <p:extLst>
      <p:ext uri="{BB962C8B-B14F-4D97-AF65-F5344CB8AC3E}">
        <p14:creationId xmlns:p14="http://schemas.microsoft.com/office/powerpoint/2010/main" val="10101159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Lst>
          </p:cNvPr>
          <p:cNvSpPr/>
          <p:nvPr/>
        </p:nvSpPr>
        <p:spPr>
          <a:xfrm>
            <a:off x="5067300" y="-429"/>
            <a:ext cx="714298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5067300" y="4571999"/>
            <a:ext cx="7158340"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bg1"/>
                </a:solidFill>
              </a:defRPr>
            </a:lvl1pPr>
          </a:lstStyle>
          <a:p>
            <a:fld id="{22927AFB-A171-440E-85AE-8173A49EBA6A}"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9884440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4255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Wednesday, February 4,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950886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bg1"/>
                </a:solidFill>
              </a:defRPr>
            </a:lvl1pPr>
          </a:lstStyle>
          <a:p>
            <a:fld id="{F2D689D1-54B3-41D9-B112-32329B9B3CC6}"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362913531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bg1"/>
                </a:solidFill>
              </a:defRPr>
            </a:lvl1pPr>
          </a:lstStyle>
          <a:p>
            <a:fld id="{E144AFCF-5D00-4E8A-BE78-0A3382672AA6}" type="datetime2">
              <a:rPr lang="en-US" smtClean="0"/>
              <a:t>Wednesday, February 4,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68685292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106703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C38FEA-146D-53B3-36B0-5CBD8040636E}"/>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5259F214-985C-4E7A-8724-986944FA2171}" type="datetime2">
              <a:rPr lang="en-US" smtClean="0"/>
              <a:t>Wednesday, February 4,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5496469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4E2F783-0ED7-1F0B-219A-198549E350DD}"/>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Wednesday, February 4,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52833939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657600" y="2807208"/>
            <a:ext cx="7644384"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40167350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69451860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12192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Wednesday, February 4,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5907124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Wednesday, February 4,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45286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8606AF-234E-F01C-E350-3E326E5ABE30}"/>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183738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5258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15742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47158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2593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962643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27107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65570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71514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03504" y="603504"/>
            <a:ext cx="4643816"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Wednesday, February 4,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9258901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Wednesday, February 4,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572978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Wednesday, February 4,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38015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Wednesday, February 4,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314249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Wednesday, February 4,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539292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Wednesday, February 4,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657682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Wednesday, February 4,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070395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Lst>
          </p:cNvPr>
          <p:cNvSpPr/>
          <p:nvPr/>
        </p:nvSpPr>
        <p:spPr>
          <a:xfrm flipH="1">
            <a:off x="6158536" y="6400799"/>
            <a:ext cx="603346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68581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95067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81967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8286" y="4719145"/>
            <a:ext cx="12221346"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Wednesday, February 4,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426199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Wednesday, February 4,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65881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Wednesday, February 4,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94330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Wednesday, February 4,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187065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Wednesday, February 4,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109714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Wednesday, February 4,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2148526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Lst>
          </p:cNvPr>
          <p:cNvSpPr/>
          <p:nvPr/>
        </p:nvSpPr>
        <p:spPr>
          <a:xfrm>
            <a:off x="1009651" y="1028701"/>
            <a:ext cx="10172700"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Wednesday, February 4,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107911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Wednesday, February 4,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14703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Lst>
          </p:cNvPr>
          <p:cNvSpPr/>
          <p:nvPr/>
        </p:nvSpPr>
        <p:spPr>
          <a:xfrm>
            <a:off x="1009651" y="1028701"/>
            <a:ext cx="10172700"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Wednesday, February 4,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41389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731521"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501384" y="1563624"/>
            <a:ext cx="507492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404633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731520"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500622" y="2020888"/>
            <a:ext cx="5074920"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Wednesday, February 4,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425515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Wednesday, February 4,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572741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Wednesday, February 4,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61248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706737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Wednesday, February 4,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861151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5449375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448963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Wednesday, February 4,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05691235"/>
      </p:ext>
    </p:extLst>
  </p:cSld>
  <p:clrMap bg1="lt1" tx1="dk1" bg2="lt2" tx2="dk2" accent1="accent1" accent2="accent2" accent3="accent3" accent4="accent4" accent5="accent5" accent6="accent6" hlink="hlink" folHlink="folHlink"/>
  <p:sldLayoutIdLst>
    <p:sldLayoutId id="2147484138" r:id="rId1"/>
    <p:sldLayoutId id="2147484139" r:id="rId2"/>
    <p:sldLayoutId id="2147484140" r:id="rId3"/>
    <p:sldLayoutId id="2147484141" r:id="rId4"/>
    <p:sldLayoutId id="2147484142" r:id="rId5"/>
    <p:sldLayoutId id="2147484143" r:id="rId6"/>
    <p:sldLayoutId id="2147484144" r:id="rId7"/>
    <p:sldLayoutId id="2147484145" r:id="rId8"/>
    <p:sldLayoutId id="2147484146" r:id="rId9"/>
    <p:sldLayoutId id="2147484147" r:id="rId10"/>
    <p:sldLayoutId id="2147484148" r:id="rId11"/>
    <p:sldLayoutId id="2147484149" r:id="rId12"/>
    <p:sldLayoutId id="2147484150" r:id="rId13"/>
    <p:sldLayoutId id="2147484151" r:id="rId14"/>
    <p:sldLayoutId id="2147484152" r:id="rId15"/>
    <p:sldLayoutId id="2147484153" r:id="rId16"/>
    <p:sldLayoutId id="2147484154" r:id="rId17"/>
    <p:sldLayoutId id="2147484155" r:id="rId18"/>
    <p:sldLayoutId id="2147484156" r:id="rId19"/>
    <p:sldLayoutId id="2147484157" r:id="rId20"/>
    <p:sldLayoutId id="2147484158" r:id="rId21"/>
    <p:sldLayoutId id="2147484159" r:id="rId22"/>
    <p:sldLayoutId id="2147484160" r:id="rId23"/>
    <p:sldLayoutId id="2147484161" r:id="rId24"/>
    <p:sldLayoutId id="2147484162" r:id="rId25"/>
    <p:sldLayoutId id="2147484163" r:id="rId26"/>
    <p:sldLayoutId id="2147484164" r:id="rId27"/>
    <p:sldLayoutId id="2147484165" r:id="rId28"/>
    <p:sldLayoutId id="2147484166" r:id="rId29"/>
    <p:sldLayoutId id="2147484167" r:id="rId30"/>
    <p:sldLayoutId id="2147484168" r:id="rId31"/>
    <p:sldLayoutId id="2147484137" r:id="rId32"/>
    <p:sldLayoutId id="2147484169" r:id="rId33"/>
    <p:sldLayoutId id="2147484170" r:id="rId34"/>
    <p:sldLayoutId id="2147484171" r:id="rId35"/>
    <p:sldLayoutId id="2147484172" r:id="rId36"/>
    <p:sldLayoutId id="2147484173" r:id="rId37"/>
    <p:sldLayoutId id="2147484174" r:id="rId38"/>
    <p:sldLayoutId id="2147484175" r:id="rId39"/>
    <p:sldLayoutId id="2147484183" r:id="rId40"/>
    <p:sldLayoutId id="2147484176" r:id="rId41"/>
    <p:sldLayoutId id="2147484177" r:id="rId42"/>
    <p:sldLayoutId id="2147484178" r:id="rId43"/>
    <p:sldLayoutId id="2147484179" r:id="rId44"/>
    <p:sldLayoutId id="2147484180" r:id="rId45"/>
    <p:sldLayoutId id="2147484181" r:id="rId46"/>
    <p:sldLayoutId id="2147484182" r:id="rId47"/>
    <p:sldLayoutId id="2147484136"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3.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FAEBF-58A5-CDBF-7471-48A8B4D467A2}"/>
              </a:ext>
            </a:extLst>
          </p:cNvPr>
          <p:cNvSpPr>
            <a:spLocks noGrp="1"/>
          </p:cNvSpPr>
          <p:nvPr>
            <p:ph type="ctrTitle"/>
          </p:nvPr>
        </p:nvSpPr>
        <p:spPr>
          <a:xfrm>
            <a:off x="731520" y="941832"/>
            <a:ext cx="4626864" cy="3209544"/>
          </a:xfrm>
        </p:spPr>
        <p:txBody>
          <a:bodyPr vert="horz" lIns="91440" tIns="45720" rIns="91440" bIns="45720" rtlCol="0" anchor="b">
            <a:normAutofit/>
          </a:bodyPr>
          <a:lstStyle/>
          <a:p>
            <a:pPr>
              <a:lnSpc>
                <a:spcPct val="110000"/>
              </a:lnSpc>
            </a:pPr>
            <a:r>
              <a:rPr lang="en-US" b="1" kern="1200" cap="all" spc="700" baseline="0" dirty="0">
                <a:latin typeface="+mj-lt"/>
                <a:ea typeface="+mj-ea"/>
                <a:cs typeface="+mj-cs"/>
              </a:rPr>
              <a:t>Solar Power Prediction</a:t>
            </a:r>
            <a:r>
              <a:rPr lang="en-US" dirty="0"/>
              <a:t>    PROJECT</a:t>
            </a:r>
            <a:endParaRPr lang="en-US" b="1" kern="1200" cap="all" spc="700" baseline="0" dirty="0">
              <a:latin typeface="+mj-lt"/>
              <a:ea typeface="+mj-ea"/>
              <a:cs typeface="+mj-cs"/>
            </a:endParaRPr>
          </a:p>
        </p:txBody>
      </p:sp>
      <p:sp>
        <p:nvSpPr>
          <p:cNvPr id="5" name="TextBox 4">
            <a:extLst>
              <a:ext uri="{FF2B5EF4-FFF2-40B4-BE49-F238E27FC236}">
                <a16:creationId xmlns:a16="http://schemas.microsoft.com/office/drawing/2014/main" id="{83D854D1-3497-4B72-8B9A-32A6ACACA3F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0271" y="4836549"/>
            <a:ext cx="9402036" cy="1426465"/>
          </a:xfrm>
          <a:prstGeom prst="rect">
            <a:avLst/>
          </a:prstGeom>
        </p:spPr>
        <p:txBody>
          <a:bodyPr>
            <a:normAutofit fontScale="92500" lnSpcReduction="20000"/>
          </a:bodyPr>
          <a:lstStyle/>
          <a:p>
            <a:pPr marL="0" indent="0" algn="l" rtl="0" eaLnBrk="1" latinLnBrk="0" hangingPunct="1">
              <a:buNone/>
            </a:pPr>
            <a:r>
              <a:rPr lang="en-US" sz="3600" b="1" dirty="0">
                <a:solidFill>
                  <a:schemeClr val="bg1">
                    <a:lumMod val="95000"/>
                  </a:schemeClr>
                </a:solidFill>
                <a:effectLst/>
                <a:latin typeface="Google Sans"/>
              </a:rPr>
              <a:t>Predicting Solar Energy </a:t>
            </a:r>
          </a:p>
          <a:p>
            <a:pPr marL="0" indent="0" algn="l" rtl="0" eaLnBrk="1" latinLnBrk="0" hangingPunct="1">
              <a:buNone/>
            </a:pPr>
            <a:r>
              <a:rPr lang="en-US" sz="3600" b="1" dirty="0">
                <a:solidFill>
                  <a:schemeClr val="bg1">
                    <a:lumMod val="95000"/>
                  </a:schemeClr>
                </a:solidFill>
                <a:effectLst/>
                <a:latin typeface="Google Sans"/>
              </a:rPr>
              <a:t>Production Using</a:t>
            </a:r>
            <a:endParaRPr lang="en-US" sz="3600" dirty="0">
              <a:solidFill>
                <a:schemeClr val="bg1">
                  <a:lumMod val="95000"/>
                </a:schemeClr>
              </a:solidFill>
              <a:effectLst/>
              <a:latin typeface="Google Sans"/>
            </a:endParaRPr>
          </a:p>
          <a:p>
            <a:pPr marL="0" indent="0" algn="l" rtl="0" eaLnBrk="1" latinLnBrk="0" hangingPunct="1">
              <a:buNone/>
            </a:pPr>
            <a:r>
              <a:rPr lang="en-US" sz="3600" b="1" dirty="0">
                <a:solidFill>
                  <a:schemeClr val="bg1">
                    <a:lumMod val="95000"/>
                  </a:schemeClr>
                </a:solidFill>
                <a:effectLst/>
                <a:latin typeface="Google Sans"/>
              </a:rPr>
              <a:t>Machine Learning Methods</a:t>
            </a:r>
            <a:endParaRPr lang="en-US" sz="3600" dirty="0">
              <a:solidFill>
                <a:schemeClr val="bg1">
                  <a:lumMod val="95000"/>
                </a:schemeClr>
              </a:solidFill>
            </a:endParaRPr>
          </a:p>
        </p:txBody>
      </p:sp>
      <p:pic>
        <p:nvPicPr>
          <p:cNvPr id="4" name="Content Placeholder 3" descr="Shining sun with solar photovoltaic panels producing green energy">
            <a:extLst>
              <a:ext uri="{FF2B5EF4-FFF2-40B4-BE49-F238E27FC236}">
                <a16:creationId xmlns:a16="http://schemas.microsoft.com/office/drawing/2014/main" id="{BF2EB52D-305A-43B4-BC0F-677EDA6193ED}"/>
              </a:ext>
            </a:extLst>
          </p:cNvPr>
          <p:cNvPicPr>
            <a:picLocks noGrp="1" noChangeAspect="1"/>
          </p:cNvPicPr>
          <p:nvPr>
            <p:ph type="pic" sz="quarter" idx="13"/>
          </p:nvPr>
        </p:nvPicPr>
        <p:blipFill>
          <a:blip r:embed="rId3"/>
          <a:stretch/>
        </p:blipFill>
        <p:spPr>
          <a:xfrm>
            <a:off x="6527863" y="0"/>
            <a:ext cx="5229225" cy="6858000"/>
          </a:xfrm>
          <a:noFill/>
        </p:spPr>
      </p:pic>
    </p:spTree>
    <p:extLst>
      <p:ext uri="{BB962C8B-B14F-4D97-AF65-F5344CB8AC3E}">
        <p14:creationId xmlns:p14="http://schemas.microsoft.com/office/powerpoint/2010/main" val="65174981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F89B-F8C4-2928-95E7-64E3FC557C36}"/>
              </a:ext>
            </a:extLst>
          </p:cNvPr>
          <p:cNvSpPr>
            <a:spLocks noGrp="1"/>
          </p:cNvSpPr>
          <p:nvPr>
            <p:ph type="ctrTitle"/>
          </p:nvPr>
        </p:nvSpPr>
        <p:spPr>
          <a:xfrm>
            <a:off x="2987172" y="510481"/>
            <a:ext cx="9870885" cy="1703540"/>
          </a:xfrm>
        </p:spPr>
        <p:txBody>
          <a:bodyPr anchor="b">
            <a:normAutofit/>
          </a:bodyPr>
          <a:lstStyle/>
          <a:p>
            <a:r>
              <a:rPr lang="en-US" dirty="0"/>
              <a:t>Group Number 6</a:t>
            </a:r>
          </a:p>
        </p:txBody>
      </p:sp>
      <p:sp>
        <p:nvSpPr>
          <p:cNvPr id="3" name="Subtitle 2">
            <a:extLst>
              <a:ext uri="{FF2B5EF4-FFF2-40B4-BE49-F238E27FC236}">
                <a16:creationId xmlns:a16="http://schemas.microsoft.com/office/drawing/2014/main" id="{2FB3EBFD-8BDE-9D75-D1BA-D727280EFAC1}"/>
              </a:ext>
            </a:extLst>
          </p:cNvPr>
          <p:cNvSpPr>
            <a:spLocks noGrp="1"/>
          </p:cNvSpPr>
          <p:nvPr>
            <p:ph type="subTitle" idx="1"/>
          </p:nvPr>
        </p:nvSpPr>
        <p:spPr>
          <a:xfrm>
            <a:off x="3207026" y="3869635"/>
            <a:ext cx="7976086" cy="2503733"/>
          </a:xfrm>
        </p:spPr>
        <p:txBody>
          <a:bodyPr anchor="ctr">
            <a:normAutofit fontScale="25000" lnSpcReduction="20000"/>
          </a:bodyPr>
          <a:lstStyle/>
          <a:p>
            <a:r>
              <a:rPr lang="en-US" sz="8000" b="1" dirty="0"/>
              <a:t>Team Member’s</a:t>
            </a:r>
          </a:p>
          <a:p>
            <a:pPr marL="514350" indent="-514350">
              <a:buFont typeface="+mj-lt"/>
              <a:buAutoNum type="arabicPeriod"/>
            </a:pPr>
            <a:r>
              <a:rPr lang="en-US" sz="8000" b="1" dirty="0"/>
              <a:t>DHEERAJ</a:t>
            </a:r>
          </a:p>
          <a:p>
            <a:pPr marL="514350" indent="-514350">
              <a:buFont typeface="+mj-lt"/>
              <a:buAutoNum type="arabicPeriod"/>
            </a:pPr>
            <a:r>
              <a:rPr lang="en-US" sz="8000" b="1" dirty="0"/>
              <a:t>ISHITA</a:t>
            </a:r>
          </a:p>
          <a:p>
            <a:pPr marL="514350" indent="-514350">
              <a:buFont typeface="+mj-lt"/>
              <a:buAutoNum type="arabicPeriod"/>
            </a:pPr>
            <a:r>
              <a:rPr lang="en-US" sz="8000" b="1" dirty="0"/>
              <a:t>KAMINI</a:t>
            </a:r>
          </a:p>
          <a:p>
            <a:pPr marL="514350" indent="-514350">
              <a:buFont typeface="+mj-lt"/>
              <a:buAutoNum type="arabicPeriod"/>
            </a:pPr>
            <a:r>
              <a:rPr lang="en-US" sz="8000" b="1" dirty="0"/>
              <a:t>MIHIR</a:t>
            </a:r>
          </a:p>
          <a:p>
            <a:pPr marL="514350" indent="-514350">
              <a:buFont typeface="+mj-lt"/>
              <a:buAutoNum type="arabicPeriod"/>
            </a:pPr>
            <a:r>
              <a:rPr lang="en-US" sz="8000" b="1" dirty="0"/>
              <a:t>PRANEETHA</a:t>
            </a:r>
          </a:p>
          <a:p>
            <a:pPr marL="514350" indent="-514350">
              <a:buFont typeface="+mj-lt"/>
              <a:buAutoNum type="arabicPeriod"/>
            </a:pPr>
            <a:r>
              <a:rPr lang="en-US" sz="8000" b="1" dirty="0"/>
              <a:t>RENUKA</a:t>
            </a:r>
          </a:p>
          <a:p>
            <a:pPr marL="514350" indent="-514350">
              <a:buFont typeface="+mj-lt"/>
              <a:buAutoNum type="arabicPeriod"/>
            </a:pPr>
            <a:r>
              <a:rPr lang="en-US" sz="8000" b="1" dirty="0"/>
              <a:t>SHRADDHA</a:t>
            </a:r>
          </a:p>
          <a:p>
            <a:pPr marL="514350" indent="-514350">
              <a:buFont typeface="+mj-lt"/>
              <a:buAutoNum type="arabicPeriod"/>
            </a:pPr>
            <a:endParaRPr lang="en-US" sz="8000" b="1" dirty="0"/>
          </a:p>
          <a:p>
            <a:endParaRPr lang="en-US" sz="3300" dirty="0"/>
          </a:p>
          <a:p>
            <a:pPr algn="r"/>
            <a:endParaRPr lang="en-US" sz="8000" dirty="0"/>
          </a:p>
          <a:p>
            <a:endParaRPr lang="en-US" dirty="0"/>
          </a:p>
        </p:txBody>
      </p:sp>
    </p:spTree>
    <p:extLst>
      <p:ext uri="{BB962C8B-B14F-4D97-AF65-F5344CB8AC3E}">
        <p14:creationId xmlns:p14="http://schemas.microsoft.com/office/powerpoint/2010/main" val="284516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7">
            <a:extLst>
              <a:ext uri="{FF2B5EF4-FFF2-40B4-BE49-F238E27FC236}">
                <a16:creationId xmlns:a16="http://schemas.microsoft.com/office/drawing/2014/main" id="{2F29E488-1B5C-3DD9-04BD-5ED44797B34F}"/>
              </a:ext>
            </a:extLst>
          </p:cNvPr>
          <p:cNvSpPr>
            <a:spLocks noGrp="1"/>
          </p:cNvSpPr>
          <p:nvPr>
            <p:ph type="title"/>
          </p:nvPr>
        </p:nvSpPr>
        <p:spPr>
          <a:xfrm>
            <a:off x="8189843" y="1351722"/>
            <a:ext cx="3047999" cy="3906078"/>
          </a:xfrm>
        </p:spPr>
        <p:txBody>
          <a:bodyPr anchor="ctr">
            <a:normAutofit/>
          </a:bodyPr>
          <a:lstStyle/>
          <a:p>
            <a:r>
              <a:rPr lang="en-US" sz="2000" b="1" dirty="0"/>
              <a:t>PROBLEM DEFINITION</a:t>
            </a:r>
          </a:p>
        </p:txBody>
      </p:sp>
      <p:graphicFrame>
        <p:nvGraphicFramePr>
          <p:cNvPr id="18" name="Content Placeholder 2">
            <a:extLst>
              <a:ext uri="{FF2B5EF4-FFF2-40B4-BE49-F238E27FC236}">
                <a16:creationId xmlns:a16="http://schemas.microsoft.com/office/drawing/2014/main" id="{159C6F66-96C9-44FC-545D-0E0FC9D984EB}"/>
              </a:ext>
            </a:extLst>
          </p:cNvPr>
          <p:cNvGraphicFramePr>
            <a:graphicFrameLocks noGrp="1"/>
          </p:cNvGraphicFramePr>
          <p:nvPr>
            <p:ph sz="quarter" idx="13"/>
            <p:extLst>
              <p:ext uri="{D42A27DB-BD31-4B8C-83A1-F6EECF244321}">
                <p14:modId xmlns:p14="http://schemas.microsoft.com/office/powerpoint/2010/main" val="1105807266"/>
              </p:ext>
              <p:ext uri="{E7BDC344-281C-4309-B0C6-D0EE65EED2A8}">
                <p202:designPr xmlns:p202="http://schemas.microsoft.com/office/powerpoint/2020/02/main">
                  <p202:designTagLst>
                    <p202:designTag name="ARCH:1:CLS" val="StackedKeyContentTable"/>
                  </p202:designTagLst>
                </p202:designPr>
              </p:ext>
            </p:extLst>
          </p:nvPr>
        </p:nvGraphicFramePr>
        <p:xfrm>
          <a:off x="1774938" y="1126436"/>
          <a:ext cx="5751576" cy="4678018"/>
        </p:xfrm>
        <a:graphic>
          <a:graphicData uri="http://schemas.openxmlformats.org/drawingml/2006/table">
            <a:tbl>
              <a:tblPr bandRow="1">
                <a:noFill/>
                <a:tableStyleId>{5C22544A-7EE6-4342-B048-85BDC9FD1C3A}</a:tableStyleId>
              </a:tblPr>
              <a:tblGrid>
                <a:gridCol w="5751576">
                  <a:extLst>
                    <a:ext uri="{9D8B030D-6E8A-4147-A177-3AD203B41FA5}">
                      <a16:colId xmlns:a16="http://schemas.microsoft.com/office/drawing/2014/main" val="1728428204"/>
                    </a:ext>
                  </a:extLst>
                </a:gridCol>
              </a:tblGrid>
              <a:tr h="1382360">
                <a:tc>
                  <a:txBody>
                    <a:bodyPr/>
                    <a:lstStyle/>
                    <a:p>
                      <a:pPr marL="0" algn="l" defTabSz="914400" rtl="0" eaLnBrk="1" latinLnBrk="0" hangingPunct="1">
                        <a:buNone/>
                      </a:pPr>
                      <a:r>
                        <a:rPr lang="en-US" sz="1800" b="1" i="0" kern="1200" dirty="0">
                          <a:solidFill>
                            <a:schemeClr val="dk1"/>
                          </a:solidFill>
                          <a:effectLst/>
                          <a:latin typeface="+mn-lt"/>
                          <a:ea typeface="+mn-ea"/>
                          <a:cs typeface="+mn-cs"/>
                        </a:rPr>
                        <a:t>The primary goal of this project  is to model solar  energy</a:t>
                      </a:r>
                    </a:p>
                  </a:txBody>
                  <a:tcPr marL="137161" marR="137161" marT="137161" marB="137161">
                    <a:lnL w="12700" cmpd="sng">
                      <a:noFill/>
                      <a:prstDash val="solid"/>
                    </a:lnL>
                    <a:lnR w="12700" cmpd="sng">
                      <a:noFill/>
                      <a:prstDash val="solid"/>
                    </a:lnR>
                    <a:lnT w="12700" cap="flat" cmpd="sng" algn="ctr">
                      <a:solidFill>
                        <a:schemeClr val="accent1"/>
                      </a:solidFill>
                      <a:prstDash val="solid"/>
                    </a:lnT>
                    <a:lnB w="12700" cap="flat" cmpd="sng" algn="ctr">
                      <a:solidFill>
                        <a:schemeClr val="accent1"/>
                      </a:solidFill>
                      <a:prstDash val="solid"/>
                    </a:lnB>
                    <a:noFill/>
                  </a:tcPr>
                </a:tc>
                <a:extLst>
                  <a:ext uri="{0D108BD9-81ED-4DB2-BD59-A6C34878D82A}">
                    <a16:rowId xmlns:a16="http://schemas.microsoft.com/office/drawing/2014/main" val="4033887091"/>
                  </a:ext>
                </a:extLst>
              </a:tr>
              <a:tr h="1647829">
                <a:tc>
                  <a:txBody>
                    <a:bodyPr/>
                    <a:lstStyle/>
                    <a:p>
                      <a:pPr algn="l">
                        <a:buNone/>
                      </a:pPr>
                      <a:r>
                        <a:rPr lang="en-US" sz="1800" b="1" i="0" kern="1200" dirty="0">
                          <a:solidFill>
                            <a:schemeClr val="dk1"/>
                          </a:solidFill>
                          <a:effectLst/>
                          <a:latin typeface="+mn-lt"/>
                          <a:ea typeface="+mn-ea"/>
                          <a:cs typeface="+mn-cs"/>
                        </a:rPr>
                        <a:t>To develop a machine learning model that accurately predicts solar power generation based on historical solar panel output and meteorological data</a:t>
                      </a:r>
                      <a:endParaRPr lang="en-US" sz="2000" b="1" cap="none" spc="0" dirty="0">
                        <a:solidFill>
                          <a:schemeClr val="tx1"/>
                        </a:solidFill>
                      </a:endParaRPr>
                    </a:p>
                  </a:txBody>
                  <a:tcPr marL="137161" marR="137161" marT="137161" marB="137161">
                    <a:lnL w="12700" cmpd="sng">
                      <a:noFill/>
                      <a:prstDash val="solid"/>
                    </a:lnL>
                    <a:lnR w="12700" cmpd="sng">
                      <a:noFill/>
                      <a:prstDash val="solid"/>
                    </a:lnR>
                    <a:lnT w="12700" cap="flat" cmpd="sng" algn="ctr">
                      <a:solidFill>
                        <a:schemeClr val="accent1"/>
                      </a:solidFill>
                      <a:prstDash val="solid"/>
                    </a:lnT>
                    <a:lnB w="12700" cap="flat" cmpd="sng" algn="ctr">
                      <a:solidFill>
                        <a:schemeClr val="accent1"/>
                      </a:solidFill>
                      <a:prstDash val="solid"/>
                    </a:lnB>
                    <a:noFill/>
                  </a:tcPr>
                </a:tc>
                <a:extLst>
                  <a:ext uri="{0D108BD9-81ED-4DB2-BD59-A6C34878D82A}">
                    <a16:rowId xmlns:a16="http://schemas.microsoft.com/office/drawing/2014/main" val="840034750"/>
                  </a:ext>
                </a:extLst>
              </a:tr>
              <a:tr h="1647829">
                <a:tc>
                  <a:txBody>
                    <a:bodyPr/>
                    <a:lstStyle/>
                    <a:p>
                      <a:pPr algn="l">
                        <a:buNone/>
                      </a:pPr>
                      <a:r>
                        <a:rPr lang="en-US" sz="1800" b="1" i="0" kern="1200" dirty="0">
                          <a:solidFill>
                            <a:schemeClr val="dk1"/>
                          </a:solidFill>
                          <a:effectLst/>
                          <a:latin typeface="+mn-lt"/>
                          <a:ea typeface="+mn-ea"/>
                          <a:cs typeface="+mn-cs"/>
                        </a:rPr>
                        <a:t>Aim is  to minimize prediction errors (RMSE/MAE) and maximize operational efficiency for grid management</a:t>
                      </a:r>
                      <a:endParaRPr lang="en-US" sz="2000" b="1" cap="none" spc="0" dirty="0">
                        <a:solidFill>
                          <a:schemeClr val="tx1"/>
                        </a:solidFill>
                      </a:endParaRPr>
                    </a:p>
                  </a:txBody>
                  <a:tcPr marL="137161" marR="137161" marT="137161" marB="137161">
                    <a:lnL w="12700" cmpd="sng">
                      <a:noFill/>
                      <a:prstDash val="solid"/>
                    </a:lnL>
                    <a:lnR w="12700" cmpd="sng">
                      <a:noFill/>
                      <a:prstDash val="solid"/>
                    </a:lnR>
                    <a:lnT w="12700" cap="flat" cmpd="sng" algn="ctr">
                      <a:solidFill>
                        <a:schemeClr val="accent1"/>
                      </a:solidFill>
                      <a:prstDash val="solid"/>
                    </a:lnT>
                    <a:lnB w="12700" cap="flat" cmpd="sng" algn="ctr">
                      <a:solidFill>
                        <a:schemeClr val="accent1"/>
                      </a:solidFill>
                      <a:prstDash val="solid"/>
                    </a:lnB>
                    <a:noFill/>
                  </a:tcPr>
                </a:tc>
                <a:extLst>
                  <a:ext uri="{0D108BD9-81ED-4DB2-BD59-A6C34878D82A}">
                    <a16:rowId xmlns:a16="http://schemas.microsoft.com/office/drawing/2014/main" val="2725000439"/>
                  </a:ext>
                </a:extLst>
              </a:tr>
            </a:tbl>
          </a:graphicData>
        </a:graphic>
      </p:graphicFrame>
    </p:spTree>
    <p:extLst>
      <p:ext uri="{BB962C8B-B14F-4D97-AF65-F5344CB8AC3E}">
        <p14:creationId xmlns:p14="http://schemas.microsoft.com/office/powerpoint/2010/main" val="37300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95E78-8E7B-DC4C-1644-0F38B6E0573A}"/>
              </a:ext>
            </a:extLst>
          </p:cNvPr>
          <p:cNvSpPr>
            <a:spLocks noGrp="1"/>
          </p:cNvSpPr>
          <p:nvPr>
            <p:ph type="title"/>
          </p:nvPr>
        </p:nvSpPr>
        <p:spPr>
          <a:xfrm>
            <a:off x="7431157" y="458393"/>
            <a:ext cx="4489704" cy="1463040"/>
          </a:xfrm>
        </p:spPr>
        <p:txBody>
          <a:bodyPr vert="horz" lIns="91440" tIns="45720" rIns="91440" bIns="45720" rtlCol="0" anchor="b">
            <a:normAutofit fontScale="90000"/>
          </a:bodyPr>
          <a:lstStyle/>
          <a:p>
            <a:pPr>
              <a:lnSpc>
                <a:spcPct val="110000"/>
              </a:lnSpc>
            </a:pPr>
            <a:r>
              <a:rPr lang="en-US" sz="3100" b="1" kern="1200" cap="all" spc="700" baseline="0" dirty="0">
                <a:latin typeface="+mj-lt"/>
                <a:ea typeface="+mj-ea"/>
                <a:cs typeface="+mj-cs"/>
              </a:rPr>
              <a:t>Weekly Project </a:t>
            </a:r>
            <a:r>
              <a:rPr lang="en-US" sz="3100" dirty="0"/>
              <a:t>PLAN</a:t>
            </a:r>
            <a:r>
              <a:rPr lang="en-US" sz="3100" b="1" kern="1200" cap="all" spc="700" baseline="0" dirty="0">
                <a:latin typeface="+mj-lt"/>
                <a:ea typeface="+mj-ea"/>
                <a:cs typeface="+mj-cs"/>
              </a:rPr>
              <a:t> </a:t>
            </a:r>
            <a:r>
              <a:rPr lang="en-US" b="1" kern="1200" cap="all" spc="700" baseline="0" dirty="0">
                <a:latin typeface="+mj-lt"/>
                <a:ea typeface="+mj-ea"/>
                <a:cs typeface="+mj-cs"/>
              </a:rPr>
              <a:t>Timeline</a:t>
            </a:r>
          </a:p>
        </p:txBody>
      </p:sp>
      <p:pic>
        <p:nvPicPr>
          <p:cNvPr id="4" name="Content Placeholder 3" descr="Working desk with laptop and notebook and a cup of latte coffee">
            <a:extLst>
              <a:ext uri="{FF2B5EF4-FFF2-40B4-BE49-F238E27FC236}">
                <a16:creationId xmlns:a16="http://schemas.microsoft.com/office/drawing/2014/main" id="{4A0F8ED9-C484-46F1-BD9D-79DE79EDD1A6}"/>
              </a:ext>
            </a:extLst>
          </p:cNvPr>
          <p:cNvPicPr>
            <a:picLocks noGrp="1" noChangeAspect="1"/>
          </p:cNvPicPr>
          <p:nvPr>
            <p:ph type="pic" sz="quarter" idx="18"/>
          </p:nvPr>
        </p:nvPicPr>
        <p:blipFill>
          <a:blip r:embed="rId3"/>
          <a:srcRect l="21920" r="21920"/>
          <a:stretch/>
        </p:blipFill>
        <p:spPr>
          <a:xfrm>
            <a:off x="0" y="-1"/>
            <a:ext cx="6101679" cy="5685183"/>
          </a:xfrm>
          <a:noFill/>
        </p:spPr>
      </p:pic>
      <p:graphicFrame>
        <p:nvGraphicFramePr>
          <p:cNvPr id="6" name="Content Placeholder 5">
            <a:extLst>
              <a:ext uri="{FF2B5EF4-FFF2-40B4-BE49-F238E27FC236}">
                <a16:creationId xmlns:a16="http://schemas.microsoft.com/office/drawing/2014/main" id="{3F2376DE-73F9-479B-BD2A-BBA6FD63D266}"/>
              </a:ext>
            </a:extLst>
          </p:cNvPr>
          <p:cNvGraphicFramePr>
            <a:graphicFrameLocks noGrp="1"/>
          </p:cNvGraphicFramePr>
          <p:nvPr>
            <p:ph sz="quarter" idx="14"/>
            <p:extLst>
              <p:ext uri="{D42A27DB-BD31-4B8C-83A1-F6EECF244321}">
                <p14:modId xmlns:p14="http://schemas.microsoft.com/office/powerpoint/2010/main" val="859628387"/>
              </p:ext>
            </p:extLst>
          </p:nvPr>
        </p:nvGraphicFramePr>
        <p:xfrm>
          <a:off x="6467061" y="1338470"/>
          <a:ext cx="5118514" cy="4573894"/>
        </p:xfrm>
        <a:graphic>
          <a:graphicData uri="http://schemas.openxmlformats.org/drawingml/2006/table">
            <a:tbl>
              <a:tblPr firstRow="1" bandRow="1">
                <a:tableStyleId>{5C22544A-7EE6-4342-B048-85BDC9FD1C3A}</a:tableStyleId>
              </a:tblPr>
              <a:tblGrid>
                <a:gridCol w="2559257">
                  <a:extLst>
                    <a:ext uri="{9D8B030D-6E8A-4147-A177-3AD203B41FA5}">
                      <a16:colId xmlns:a16="http://schemas.microsoft.com/office/drawing/2014/main" val="2741275686"/>
                    </a:ext>
                  </a:extLst>
                </a:gridCol>
                <a:gridCol w="2559257">
                  <a:extLst>
                    <a:ext uri="{9D8B030D-6E8A-4147-A177-3AD203B41FA5}">
                      <a16:colId xmlns:a16="http://schemas.microsoft.com/office/drawing/2014/main" val="708674323"/>
                    </a:ext>
                  </a:extLst>
                </a:gridCol>
              </a:tblGrid>
              <a:tr h="583854">
                <a:tc>
                  <a:txBody>
                    <a:bodyPr/>
                    <a:lstStyle/>
                    <a:p>
                      <a:pPr marL="0" algn="l" defTabSz="914400" rtl="0" eaLnBrk="1" latinLnBrk="0" hangingPunct="1"/>
                      <a:r>
                        <a:rPr lang="en-US" sz="1800" b="1" i="0" kern="1200" dirty="0" err="1">
                          <a:solidFill>
                            <a:schemeClr val="bg1"/>
                          </a:solidFill>
                          <a:effectLst/>
                          <a:latin typeface="+mn-lt"/>
                          <a:ea typeface="+mn-ea"/>
                          <a:cs typeface="+mn-cs"/>
                        </a:rPr>
                        <a:t>SNo</a:t>
                      </a:r>
                      <a:endParaRPr lang="en-US" sz="1800" b="1" i="0" kern="1200" dirty="0">
                        <a:solidFill>
                          <a:schemeClr val="bg1"/>
                        </a:solidFill>
                        <a:effectLst/>
                        <a:latin typeface="+mn-lt"/>
                        <a:ea typeface="+mn-ea"/>
                        <a:cs typeface="+mn-cs"/>
                      </a:endParaRPr>
                    </a:p>
                  </a:txBody>
                  <a:tcPr/>
                </a:tc>
                <a:tc>
                  <a:txBody>
                    <a:bodyPr/>
                    <a:lstStyle/>
                    <a:p>
                      <a:pPr marL="0" algn="l" defTabSz="914400" rtl="0" eaLnBrk="1" latinLnBrk="0" hangingPunct="1"/>
                      <a:r>
                        <a:rPr lang="en-US" sz="1800" b="1" i="0" kern="1200" dirty="0" err="1">
                          <a:solidFill>
                            <a:schemeClr val="bg1"/>
                          </a:solidFill>
                          <a:effectLst/>
                          <a:latin typeface="+mn-lt"/>
                          <a:ea typeface="+mn-ea"/>
                          <a:cs typeface="+mn-cs"/>
                        </a:rPr>
                        <a:t>Descriprtion</a:t>
                      </a:r>
                      <a:endParaRPr lang="en-US" sz="1800" b="1" i="0" kern="1200" dirty="0">
                        <a:solidFill>
                          <a:schemeClr val="bg1"/>
                        </a:solidFill>
                        <a:effectLst/>
                        <a:latin typeface="+mn-lt"/>
                        <a:ea typeface="+mn-ea"/>
                        <a:cs typeface="+mn-cs"/>
                      </a:endParaRPr>
                    </a:p>
                  </a:txBody>
                  <a:tcPr/>
                </a:tc>
                <a:extLst>
                  <a:ext uri="{0D108BD9-81ED-4DB2-BD59-A6C34878D82A}">
                    <a16:rowId xmlns:a16="http://schemas.microsoft.com/office/drawing/2014/main" val="2527459807"/>
                  </a:ext>
                </a:extLst>
              </a:tr>
              <a:tr h="855831">
                <a:tc>
                  <a:txBody>
                    <a:bodyPr/>
                    <a:lstStyle/>
                    <a:p>
                      <a:pPr marL="0" algn="l" defTabSz="914400" rtl="0" eaLnBrk="1" latinLnBrk="0" hangingPunct="1"/>
                      <a:r>
                        <a:rPr lang="en-US" sz="1800" b="1" i="0" kern="1200" dirty="0">
                          <a:solidFill>
                            <a:schemeClr val="dk1"/>
                          </a:solidFill>
                          <a:effectLst/>
                          <a:latin typeface="+mn-lt"/>
                          <a:ea typeface="+mn-ea"/>
                          <a:cs typeface="+mn-cs"/>
                        </a:rPr>
                        <a:t>Week1</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Scope and Business Statement</a:t>
                      </a:r>
                    </a:p>
                  </a:txBody>
                  <a:tcPr/>
                </a:tc>
                <a:extLst>
                  <a:ext uri="{0D108BD9-81ED-4DB2-BD59-A6C34878D82A}">
                    <a16:rowId xmlns:a16="http://schemas.microsoft.com/office/drawing/2014/main" val="326731468"/>
                  </a:ext>
                </a:extLst>
              </a:tr>
              <a:tr h="1025219">
                <a:tc>
                  <a:txBody>
                    <a:bodyPr/>
                    <a:lstStyle/>
                    <a:p>
                      <a:pPr marL="0" algn="l" defTabSz="914400" rtl="0" eaLnBrk="1" latinLnBrk="0" hangingPunct="1"/>
                      <a:r>
                        <a:rPr lang="en-US" sz="1800" b="1" i="0" kern="1200" dirty="0">
                          <a:solidFill>
                            <a:schemeClr val="dk1"/>
                          </a:solidFill>
                          <a:effectLst/>
                          <a:latin typeface="+mn-lt"/>
                          <a:ea typeface="+mn-ea"/>
                          <a:cs typeface="+mn-cs"/>
                        </a:rPr>
                        <a:t>Week2</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Data Understanding and Preprocessing (EDA)</a:t>
                      </a:r>
                    </a:p>
                  </a:txBody>
                  <a:tcPr/>
                </a:tc>
                <a:extLst>
                  <a:ext uri="{0D108BD9-81ED-4DB2-BD59-A6C34878D82A}">
                    <a16:rowId xmlns:a16="http://schemas.microsoft.com/office/drawing/2014/main" val="564098547"/>
                  </a:ext>
                </a:extLst>
              </a:tr>
              <a:tr h="973071">
                <a:tc>
                  <a:txBody>
                    <a:bodyPr/>
                    <a:lstStyle/>
                    <a:p>
                      <a:pPr marL="0" algn="l" defTabSz="914400" rtl="0" eaLnBrk="1" latinLnBrk="0" hangingPunct="1"/>
                      <a:r>
                        <a:rPr lang="en-US" sz="1800" b="1" i="0" kern="1200" dirty="0">
                          <a:solidFill>
                            <a:schemeClr val="dk1"/>
                          </a:solidFill>
                          <a:effectLst/>
                          <a:latin typeface="+mn-lt"/>
                          <a:ea typeface="+mn-ea"/>
                          <a:cs typeface="+mn-cs"/>
                        </a:rPr>
                        <a:t>Week3</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Model Building and selecting the Best Model</a:t>
                      </a:r>
                    </a:p>
                  </a:txBody>
                  <a:tcPr/>
                </a:tc>
                <a:extLst>
                  <a:ext uri="{0D108BD9-81ED-4DB2-BD59-A6C34878D82A}">
                    <a16:rowId xmlns:a16="http://schemas.microsoft.com/office/drawing/2014/main" val="3157057760"/>
                  </a:ext>
                </a:extLst>
              </a:tr>
              <a:tr h="495839">
                <a:tc>
                  <a:txBody>
                    <a:bodyPr/>
                    <a:lstStyle/>
                    <a:p>
                      <a:pPr marL="0" algn="l" defTabSz="914400" rtl="0" eaLnBrk="1" latinLnBrk="0" hangingPunct="1"/>
                      <a:r>
                        <a:rPr lang="en-US" sz="1800" b="1" i="0" kern="1200" dirty="0">
                          <a:solidFill>
                            <a:schemeClr val="dk1"/>
                          </a:solidFill>
                          <a:effectLst/>
                          <a:latin typeface="+mn-lt"/>
                          <a:ea typeface="+mn-ea"/>
                          <a:cs typeface="+mn-cs"/>
                        </a:rPr>
                        <a:t>Week4</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Deployment of the application in </a:t>
                      </a:r>
                      <a:r>
                        <a:rPr lang="en-US" sz="1800" b="1" i="0" kern="1200" dirty="0" err="1">
                          <a:solidFill>
                            <a:schemeClr val="dk1"/>
                          </a:solidFill>
                          <a:effectLst/>
                          <a:latin typeface="+mn-lt"/>
                          <a:ea typeface="+mn-ea"/>
                          <a:cs typeface="+mn-cs"/>
                        </a:rPr>
                        <a:t>Streamlit</a:t>
                      </a:r>
                      <a:endParaRPr 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611504339"/>
                  </a:ext>
                </a:extLst>
              </a:tr>
              <a:tr h="495839">
                <a:tc>
                  <a:txBody>
                    <a:bodyPr/>
                    <a:lstStyle/>
                    <a:p>
                      <a:pPr marL="0" algn="l" defTabSz="914400" rtl="0" eaLnBrk="1" latinLnBrk="0" hangingPunct="1"/>
                      <a:r>
                        <a:rPr lang="en-US" sz="1800" b="1" i="0" kern="1200" dirty="0">
                          <a:solidFill>
                            <a:schemeClr val="dk1"/>
                          </a:solidFill>
                          <a:effectLst/>
                          <a:latin typeface="+mn-lt"/>
                          <a:ea typeface="+mn-ea"/>
                          <a:cs typeface="+mn-cs"/>
                        </a:rPr>
                        <a:t>Week5</a:t>
                      </a:r>
                    </a:p>
                  </a:txBody>
                  <a:tcPr/>
                </a:tc>
                <a:tc>
                  <a:txBody>
                    <a:bodyPr/>
                    <a:lstStyle/>
                    <a:p>
                      <a:pPr marL="0" algn="l" defTabSz="914400" rtl="0" eaLnBrk="1" latinLnBrk="0" hangingPunct="1"/>
                      <a:r>
                        <a:rPr lang="en-US" sz="1800" b="1" i="0" kern="1200" dirty="0">
                          <a:solidFill>
                            <a:schemeClr val="dk1"/>
                          </a:solidFill>
                          <a:effectLst/>
                          <a:latin typeface="+mn-lt"/>
                          <a:ea typeface="+mn-ea"/>
                          <a:cs typeface="+mn-cs"/>
                        </a:rPr>
                        <a:t>Final Presentation</a:t>
                      </a:r>
                    </a:p>
                  </a:txBody>
                  <a:tcPr/>
                </a:tc>
                <a:extLst>
                  <a:ext uri="{0D108BD9-81ED-4DB2-BD59-A6C34878D82A}">
                    <a16:rowId xmlns:a16="http://schemas.microsoft.com/office/drawing/2014/main" val="1047883766"/>
                  </a:ext>
                </a:extLst>
              </a:tr>
            </a:tbl>
          </a:graphicData>
        </a:graphic>
      </p:graphicFrame>
      <p:sp>
        <p:nvSpPr>
          <p:cNvPr id="5" name="TextBox 4">
            <a:extLst>
              <a:ext uri="{FF2B5EF4-FFF2-40B4-BE49-F238E27FC236}">
                <a16:creationId xmlns:a16="http://schemas.microsoft.com/office/drawing/2014/main" id="{75F89108-8786-46D1-BE7C-0C565540F9F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4974336"/>
            <a:ext cx="4626864" cy="1453896"/>
          </a:xfrm>
          <a:prstGeom prst="rect">
            <a:avLst/>
          </a:prstGeom>
        </p:spPr>
        <p:txBody>
          <a:bodyPr>
            <a:normAutofit fontScale="25000" lnSpcReduction="20000"/>
          </a:bodyPr>
          <a:lstStyle/>
          <a:p>
            <a:pPr marL="0" indent="0" defTabSz="914400">
              <a:lnSpc>
                <a:spcPct val="90000"/>
              </a:lnSpc>
              <a:spcBef>
                <a:spcPts val="2500"/>
              </a:spcBef>
              <a:spcAft>
                <a:spcPts val="600"/>
              </a:spcAft>
              <a:buNone/>
            </a:pPr>
            <a:r>
              <a:rPr lang="en-US" sz="400" b="1"/>
              <a:t>Tracking Progress</a:t>
            </a:r>
          </a:p>
          <a:p>
            <a:pPr marL="0" lvl="1" indent="0" defTabSz="914400">
              <a:lnSpc>
                <a:spcPct val="90000"/>
              </a:lnSpc>
              <a:spcBef>
                <a:spcPts val="1000"/>
              </a:spcBef>
              <a:spcAft>
                <a:spcPts val="600"/>
              </a:spcAft>
              <a:buNone/>
            </a:pPr>
            <a:r>
              <a:rPr lang="en-US" sz="400"/>
              <a:t>A weekly timeline allows for continuous monitoring of project progress, helping identify delays early and keep the project on target.</a:t>
            </a:r>
          </a:p>
          <a:p>
            <a:pPr marL="0" indent="0" defTabSz="914400">
              <a:lnSpc>
                <a:spcPct val="90000"/>
              </a:lnSpc>
              <a:spcBef>
                <a:spcPts val="2500"/>
              </a:spcBef>
              <a:spcAft>
                <a:spcPts val="600"/>
              </a:spcAft>
              <a:buNone/>
            </a:pPr>
            <a:r>
              <a:rPr lang="en-US" sz="400" b="1"/>
              <a:t>Setting Milestones and Deadlines</a:t>
            </a:r>
          </a:p>
          <a:p>
            <a:pPr marL="0" lvl="1" indent="0" defTabSz="914400">
              <a:lnSpc>
                <a:spcPct val="90000"/>
              </a:lnSpc>
              <a:spcBef>
                <a:spcPts val="1000"/>
              </a:spcBef>
              <a:spcAft>
                <a:spcPts val="600"/>
              </a:spcAft>
              <a:buNone/>
            </a:pPr>
            <a:r>
              <a:rPr lang="en-US" sz="400"/>
              <a:t>Clear milestones and deadlines for each task ensure the project advances in a timely and organized manner.</a:t>
            </a:r>
          </a:p>
          <a:p>
            <a:pPr marL="0" indent="0" defTabSz="914400">
              <a:lnSpc>
                <a:spcPct val="90000"/>
              </a:lnSpc>
              <a:spcBef>
                <a:spcPts val="2500"/>
              </a:spcBef>
              <a:spcAft>
                <a:spcPts val="600"/>
              </a:spcAft>
              <a:buNone/>
            </a:pPr>
            <a:r>
              <a:rPr lang="en-US" sz="400" b="1"/>
              <a:t>Weekly Review Meetings</a:t>
            </a:r>
          </a:p>
          <a:p>
            <a:pPr marL="0" lvl="1" indent="0" defTabSz="914400">
              <a:lnSpc>
                <a:spcPct val="90000"/>
              </a:lnSpc>
              <a:spcBef>
                <a:spcPts val="1000"/>
              </a:spcBef>
              <a:spcAft>
                <a:spcPts val="600"/>
              </a:spcAft>
              <a:buNone/>
            </a:pPr>
            <a:r>
              <a:rPr lang="en-US" sz="400"/>
              <a:t>Regular reviews foster accountability, allow for quick adjustments, and help the team maintain focus and momentum.</a:t>
            </a:r>
          </a:p>
        </p:txBody>
      </p:sp>
    </p:spTree>
    <p:extLst>
      <p:ext uri="{BB962C8B-B14F-4D97-AF65-F5344CB8AC3E}">
        <p14:creationId xmlns:p14="http://schemas.microsoft.com/office/powerpoint/2010/main" val="74057197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0120-1B6E-C651-BCC3-3D865037A079}"/>
              </a:ext>
            </a:extLst>
          </p:cNvPr>
          <p:cNvSpPr>
            <a:spLocks noGrp="1"/>
          </p:cNvSpPr>
          <p:nvPr>
            <p:ph type="title"/>
          </p:nvPr>
        </p:nvSpPr>
        <p:spPr/>
        <p:txBody>
          <a:bodyPr anchor="ctr">
            <a:normAutofit/>
          </a:bodyPr>
          <a:lstStyle/>
          <a:p>
            <a:r>
              <a:rPr lang="en-US" sz="1800" b="1" dirty="0"/>
              <a:t>BUSINESS OBJECTIVES</a:t>
            </a:r>
          </a:p>
        </p:txBody>
      </p:sp>
      <p:graphicFrame>
        <p:nvGraphicFramePr>
          <p:cNvPr id="5" name="Content Placeholder 4">
            <a:extLst>
              <a:ext uri="{FF2B5EF4-FFF2-40B4-BE49-F238E27FC236}">
                <a16:creationId xmlns:a16="http://schemas.microsoft.com/office/drawing/2014/main" id="{367878B3-673F-0D06-8353-415ED95AF795}"/>
              </a:ext>
            </a:extLst>
          </p:cNvPr>
          <p:cNvGraphicFramePr>
            <a:graphicFrameLocks noGrp="1"/>
          </p:cNvGraphicFramePr>
          <p:nvPr>
            <p:ph sz="quarter" idx="13"/>
            <p:extLst>
              <p:ext uri="{D42A27DB-BD31-4B8C-83A1-F6EECF244321}">
                <p14:modId xmlns:p14="http://schemas.microsoft.com/office/powerpoint/2010/main" val="1827617790"/>
              </p:ext>
              <p:ext uri="{E7BDC344-281C-4309-B0C6-D0EE65EED2A8}">
                <p202:designPr xmlns:p202="http://schemas.microsoft.com/office/powerpoint/2020/02/main">
                  <p202:designTagLst>
                    <p202:designTag name="ARCH:1:CLS" val="StackedSequentialContentTable"/>
                  </p202:designTagLst>
                </p202:designPr>
              </p:ext>
            </p:extLst>
          </p:nvPr>
        </p:nvGraphicFramePr>
        <p:xfrm>
          <a:off x="1683027" y="1021288"/>
          <a:ext cx="5711686" cy="4743408"/>
        </p:xfrm>
        <a:graphic>
          <a:graphicData uri="http://schemas.openxmlformats.org/drawingml/2006/table">
            <a:tbl>
              <a:tblPr bandRow="1">
                <a:noFill/>
                <a:tableStyleId>{5C22544A-7EE6-4342-B048-85BDC9FD1C3A}</a:tableStyleId>
              </a:tblPr>
              <a:tblGrid>
                <a:gridCol w="1180709">
                  <a:extLst>
                    <a:ext uri="{9D8B030D-6E8A-4147-A177-3AD203B41FA5}">
                      <a16:colId xmlns:a16="http://schemas.microsoft.com/office/drawing/2014/main" val="2530075051"/>
                    </a:ext>
                  </a:extLst>
                </a:gridCol>
                <a:gridCol w="4530977">
                  <a:extLst>
                    <a:ext uri="{9D8B030D-6E8A-4147-A177-3AD203B41FA5}">
                      <a16:colId xmlns:a16="http://schemas.microsoft.com/office/drawing/2014/main" val="20696098"/>
                    </a:ext>
                  </a:extLst>
                </a:gridCol>
              </a:tblGrid>
              <a:tr h="1926838">
                <a:tc>
                  <a:txBody>
                    <a:bodyPr/>
                    <a:lstStyle/>
                    <a:p>
                      <a:pPr algn="ctr">
                        <a:buNone/>
                      </a:pPr>
                      <a:r>
                        <a:rPr lang="en-US" sz="1800" b="1" cap="none" spc="0" dirty="0">
                          <a:solidFill>
                            <a:schemeClr val="bg1"/>
                          </a:solidFill>
                          <a:effectLst/>
                        </a:rPr>
                        <a:t>1</a:t>
                      </a: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1800" b="0" i="0" kern="1200" cap="none" spc="0" dirty="0">
                          <a:solidFill>
                            <a:schemeClr val="tx1"/>
                          </a:solidFill>
                          <a:effectLst/>
                          <a:latin typeface="+mn-lt"/>
                          <a:ea typeface="+mn-ea"/>
                          <a:cs typeface="+mn-cs"/>
                        </a:rPr>
                        <a:t>Optimizing Energy Storage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cap="none" spc="0" dirty="0">
                          <a:solidFill>
                            <a:schemeClr val="tx1"/>
                          </a:solidFill>
                          <a:effectLst/>
                          <a:latin typeface="+mn-lt"/>
                          <a:ea typeface="+mn-ea"/>
                          <a:cs typeface="+mn-cs"/>
                        </a:rPr>
                        <a:t>By predicting future solar generation and demand peaks, the model helps reducing energy waste</a:t>
                      </a: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335012438"/>
                  </a:ext>
                </a:extLst>
              </a:tr>
              <a:tr h="1581136">
                <a:tc>
                  <a:txBody>
                    <a:bodyPr/>
                    <a:lstStyle/>
                    <a:p>
                      <a:pPr algn="ctr">
                        <a:buNone/>
                      </a:pPr>
                      <a:r>
                        <a:rPr lang="en-US" sz="1800" b="1" cap="none" spc="0">
                          <a:solidFill>
                            <a:schemeClr val="bg1"/>
                          </a:solidFill>
                          <a:effectLst/>
                        </a:rPr>
                        <a:t>2</a:t>
                      </a: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cap="none" spc="0" dirty="0">
                          <a:solidFill>
                            <a:schemeClr val="tx1"/>
                          </a:solidFill>
                          <a:effectLst/>
                          <a:latin typeface="+mn-lt"/>
                          <a:ea typeface="+mn-ea"/>
                          <a:cs typeface="+mn-cs"/>
                        </a:rPr>
                        <a:t>Reducing Operational Costs: The model optimizes operating costs by helping to determine the appropriate amount of solar energy</a:t>
                      </a: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607732724"/>
                  </a:ext>
                </a:extLst>
              </a:tr>
              <a:tr h="1235434">
                <a:tc>
                  <a:txBody>
                    <a:bodyPr/>
                    <a:lstStyle/>
                    <a:p>
                      <a:pPr algn="ctr">
                        <a:buNone/>
                      </a:pPr>
                      <a:r>
                        <a:rPr lang="en-US" sz="1800" b="1" cap="none" spc="0">
                          <a:solidFill>
                            <a:schemeClr val="bg1"/>
                          </a:solidFill>
                          <a:effectLst/>
                        </a:rPr>
                        <a:t>3</a:t>
                      </a: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cap="none" spc="0" dirty="0">
                          <a:solidFill>
                            <a:schemeClr val="tx1"/>
                          </a:solidFill>
                          <a:effectLst/>
                          <a:latin typeface="+mn-lt"/>
                          <a:ea typeface="+mn-ea"/>
                          <a:cs typeface="+mn-cs"/>
                        </a:rPr>
                        <a:t>Accuracy Improvement Surpass conventional forecasting techniques  </a:t>
                      </a:r>
                    </a:p>
                    <a:p>
                      <a:pPr algn="l">
                        <a:buNone/>
                      </a:pPr>
                      <a:endParaRPr lang="en-US" sz="1800" b="0" i="0" kern="1200" cap="none" spc="0" dirty="0">
                        <a:solidFill>
                          <a:schemeClr val="tx1"/>
                        </a:solidFill>
                        <a:effectLst/>
                        <a:latin typeface="+mn-lt"/>
                        <a:ea typeface="+mn-ea"/>
                        <a:cs typeface="+mn-cs"/>
                      </a:endParaRPr>
                    </a:p>
                  </a:txBody>
                  <a:tcPr marL="78688" marR="78688" marT="78688" marB="78688"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3868947754"/>
                  </a:ext>
                </a:extLst>
              </a:tr>
            </a:tbl>
          </a:graphicData>
        </a:graphic>
      </p:graphicFrame>
    </p:spTree>
    <p:extLst>
      <p:ext uri="{BB962C8B-B14F-4D97-AF65-F5344CB8AC3E}">
        <p14:creationId xmlns:p14="http://schemas.microsoft.com/office/powerpoint/2010/main" val="321035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5BC3-2855-4279-C419-3DB04A1804F7}"/>
              </a:ext>
            </a:extLst>
          </p:cNvPr>
          <p:cNvSpPr>
            <a:spLocks noGrp="1"/>
          </p:cNvSpPr>
          <p:nvPr>
            <p:ph type="title"/>
          </p:nvPr>
        </p:nvSpPr>
        <p:spPr>
          <a:xfrm>
            <a:off x="1033272" y="347472"/>
            <a:ext cx="9875520" cy="1033272"/>
          </a:xfrm>
        </p:spPr>
        <p:txBody>
          <a:bodyPr anchor="ctr">
            <a:normAutofit/>
          </a:bodyPr>
          <a:lstStyle/>
          <a:p>
            <a:r>
              <a:rPr lang="en-US" dirty="0"/>
              <a:t>                       DATA UNDERSTANDING</a:t>
            </a:r>
          </a:p>
        </p:txBody>
      </p:sp>
      <p:graphicFrame>
        <p:nvGraphicFramePr>
          <p:cNvPr id="8" name="Content Placeholder 4">
            <a:extLst>
              <a:ext uri="{FF2B5EF4-FFF2-40B4-BE49-F238E27FC236}">
                <a16:creationId xmlns:a16="http://schemas.microsoft.com/office/drawing/2014/main" id="{97D8B850-90E0-CDEE-B9A0-7653371F0380}"/>
              </a:ext>
            </a:extLst>
          </p:cNvPr>
          <p:cNvGraphicFramePr>
            <a:graphicFrameLocks noGrp="1"/>
          </p:cNvGraphicFramePr>
          <p:nvPr>
            <p:ph idx="1"/>
            <p:extLst>
              <p:ext uri="{D42A27DB-BD31-4B8C-83A1-F6EECF244321}">
                <p14:modId xmlns:p14="http://schemas.microsoft.com/office/powerpoint/2010/main" val="1334547388"/>
              </p:ext>
            </p:extLst>
          </p:nvPr>
        </p:nvGraphicFramePr>
        <p:xfrm>
          <a:off x="1033272" y="2203703"/>
          <a:ext cx="9875520" cy="4067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4404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81F4-A9D2-8AA4-C142-9993EC2D1A7C}"/>
              </a:ext>
            </a:extLst>
          </p:cNvPr>
          <p:cNvSpPr>
            <a:spLocks noGrp="1"/>
          </p:cNvSpPr>
          <p:nvPr>
            <p:ph type="title"/>
          </p:nvPr>
        </p:nvSpPr>
        <p:spPr/>
        <p:txBody>
          <a:bodyPr anchor="t">
            <a:normAutofit/>
          </a:bodyPr>
          <a:lstStyle/>
          <a:p>
            <a:r>
              <a:rPr lang="en-US" dirty="0"/>
              <a:t>        DATA CLEANING AND PRE PREPROCESSING</a:t>
            </a:r>
          </a:p>
        </p:txBody>
      </p:sp>
      <p:graphicFrame>
        <p:nvGraphicFramePr>
          <p:cNvPr id="5" name="Content Placeholder 2">
            <a:extLst>
              <a:ext uri="{FF2B5EF4-FFF2-40B4-BE49-F238E27FC236}">
                <a16:creationId xmlns:a16="http://schemas.microsoft.com/office/drawing/2014/main" id="{0F48264F-66FA-8C2E-DB39-286B5A958C2D}"/>
              </a:ext>
            </a:extLst>
          </p:cNvPr>
          <p:cNvGraphicFramePr>
            <a:graphicFrameLocks noGrp="1"/>
          </p:cNvGraphicFramePr>
          <p:nvPr>
            <p:ph idx="1"/>
            <p:extLst>
              <p:ext uri="{D42A27DB-BD31-4B8C-83A1-F6EECF244321}">
                <p14:modId xmlns:p14="http://schemas.microsoft.com/office/powerpoint/2010/main" val="217348605"/>
              </p:ext>
            </p:extLst>
          </p:nvPr>
        </p:nvGraphicFramePr>
        <p:xfrm>
          <a:off x="879459" y="2126448"/>
          <a:ext cx="9977838" cy="4067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693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4AFFD-6D3C-35CB-330D-00FAD4636D68}"/>
              </a:ext>
            </a:extLst>
          </p:cNvPr>
          <p:cNvSpPr>
            <a:spLocks noGrp="1"/>
          </p:cNvSpPr>
          <p:nvPr>
            <p:ph type="title"/>
          </p:nvPr>
        </p:nvSpPr>
        <p:spPr>
          <a:xfrm>
            <a:off x="7086599" y="1014984"/>
            <a:ext cx="5012636" cy="1463040"/>
          </a:xfrm>
        </p:spPr>
        <p:txBody>
          <a:bodyPr vert="horz" lIns="91440" tIns="45720" rIns="91440" bIns="45720" rtlCol="0" anchor="t">
            <a:normAutofit fontScale="90000"/>
          </a:bodyPr>
          <a:lstStyle/>
          <a:p>
            <a:r>
              <a:rPr lang="en-US" sz="3100" b="1" kern="1200" cap="all" spc="700" baseline="0" dirty="0">
                <a:latin typeface="+mj-lt"/>
                <a:ea typeface="+mj-ea"/>
                <a:cs typeface="+mj-cs"/>
              </a:rPr>
              <a:t>Visualizing Data Effectively(EDA)</a:t>
            </a:r>
          </a:p>
        </p:txBody>
      </p:sp>
      <p:pic>
        <p:nvPicPr>
          <p:cNvPr id="4" name="Content Placeholder 3" descr="A 3d render of a stock market crash during a volatile market due to the covid-19 pandemic.">
            <a:extLst>
              <a:ext uri="{FF2B5EF4-FFF2-40B4-BE49-F238E27FC236}">
                <a16:creationId xmlns:a16="http://schemas.microsoft.com/office/drawing/2014/main" id="{473BA428-B6BF-4218-9A4A-712D1036CD9F}"/>
              </a:ext>
            </a:extLst>
          </p:cNvPr>
          <p:cNvPicPr>
            <a:picLocks noGrp="1" noChangeAspect="1"/>
          </p:cNvPicPr>
          <p:nvPr>
            <p:ph type="pic" sz="quarter" idx="18"/>
          </p:nvPr>
        </p:nvPicPr>
        <p:blipFill>
          <a:blip r:embed="rId3"/>
          <a:srcRect l="7960" r="21983" b="-1"/>
          <a:stretch>
            <a:fillRect/>
          </a:stretch>
        </p:blipFill>
        <p:spPr>
          <a:xfrm>
            <a:off x="20" y="-1"/>
            <a:ext cx="6281908" cy="6411311"/>
          </a:xfrm>
          <a:noFill/>
        </p:spPr>
      </p:pic>
      <p:sp>
        <p:nvSpPr>
          <p:cNvPr id="5" name="TextBox 4">
            <a:extLst>
              <a:ext uri="{FF2B5EF4-FFF2-40B4-BE49-F238E27FC236}">
                <a16:creationId xmlns:a16="http://schemas.microsoft.com/office/drawing/2014/main" id="{B78F38D7-61F6-4BEA-843D-46F41BA4CCC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86600" y="2633472"/>
            <a:ext cx="4498848" cy="3500628"/>
          </a:xfrm>
          <a:prstGeom prst="rect">
            <a:avLst/>
          </a:prstGeom>
        </p:spPr>
        <p:txBody>
          <a:bodyPr>
            <a:normAutofit fontScale="25000" lnSpcReduction="20000"/>
          </a:bodyPr>
          <a:lstStyle/>
          <a:p>
            <a:pPr marL="0" indent="0" defTabSz="914400">
              <a:lnSpc>
                <a:spcPct val="90000"/>
              </a:lnSpc>
              <a:spcBef>
                <a:spcPts val="2500"/>
              </a:spcBef>
              <a:spcAft>
                <a:spcPts val="600"/>
              </a:spcAft>
              <a:buFont typeface="+mj-lt"/>
              <a:buNone/>
            </a:pPr>
            <a:r>
              <a:rPr lang="en-US" sz="5000" b="1" dirty="0"/>
              <a:t>Using Histograms for Frequency</a:t>
            </a:r>
          </a:p>
          <a:p>
            <a:pPr marL="0" lvl="1" indent="0" defTabSz="914400">
              <a:lnSpc>
                <a:spcPct val="90000"/>
              </a:lnSpc>
              <a:spcBef>
                <a:spcPts val="1000"/>
              </a:spcBef>
              <a:spcAft>
                <a:spcPts val="600"/>
              </a:spcAft>
              <a:buFont typeface="+mj-lt"/>
              <a:buNone/>
            </a:pPr>
            <a:r>
              <a:rPr lang="en-US" sz="5000" dirty="0"/>
              <a:t>Histograms are incorporated for displaying the frequency of data within intervals, revealing underlying distributions and trends.</a:t>
            </a:r>
          </a:p>
          <a:p>
            <a:pPr marL="0" indent="0" defTabSz="914400">
              <a:lnSpc>
                <a:spcPct val="90000"/>
              </a:lnSpc>
              <a:spcBef>
                <a:spcPts val="2500"/>
              </a:spcBef>
              <a:spcAft>
                <a:spcPts val="600"/>
              </a:spcAft>
              <a:buFont typeface="+mj-lt"/>
              <a:buNone/>
            </a:pPr>
            <a:r>
              <a:rPr lang="en-US" sz="5000" b="1" dirty="0"/>
              <a:t>Bar Graphs for Comparison</a:t>
            </a:r>
          </a:p>
          <a:p>
            <a:pPr marL="0" lvl="1" indent="0" defTabSz="914400">
              <a:lnSpc>
                <a:spcPct val="90000"/>
              </a:lnSpc>
              <a:spcBef>
                <a:spcPts val="1000"/>
              </a:spcBef>
              <a:spcAft>
                <a:spcPts val="600"/>
              </a:spcAft>
              <a:buFont typeface="+mj-lt"/>
              <a:buNone/>
            </a:pPr>
            <a:r>
              <a:rPr lang="en-US" sz="5000" dirty="0"/>
              <a:t>Bar graphs  have been visualized to compare categories side by side</a:t>
            </a:r>
          </a:p>
          <a:p>
            <a:pPr marL="0" lvl="1" indent="0" defTabSz="914400">
              <a:lnSpc>
                <a:spcPct val="90000"/>
              </a:lnSpc>
              <a:spcBef>
                <a:spcPts val="1000"/>
              </a:spcBef>
              <a:spcAft>
                <a:spcPts val="600"/>
              </a:spcAft>
              <a:buFont typeface="+mj-lt"/>
              <a:buNone/>
            </a:pPr>
            <a:r>
              <a:rPr lang="en-US" sz="5000" b="1" dirty="0"/>
              <a:t>Scatter Plots</a:t>
            </a:r>
          </a:p>
          <a:p>
            <a:pPr marL="0" lvl="1" defTabSz="914400">
              <a:lnSpc>
                <a:spcPct val="90000"/>
              </a:lnSpc>
              <a:spcBef>
                <a:spcPts val="1000"/>
              </a:spcBef>
              <a:spcAft>
                <a:spcPts val="600"/>
              </a:spcAft>
            </a:pPr>
            <a:r>
              <a:rPr lang="en-US" sz="5000" dirty="0"/>
              <a:t>Visualizations showing relationships (scatter plots)  between variables included</a:t>
            </a:r>
          </a:p>
          <a:p>
            <a:pPr marL="0" lvl="1" defTabSz="914400">
              <a:lnSpc>
                <a:spcPct val="90000"/>
              </a:lnSpc>
              <a:spcBef>
                <a:spcPts val="2500"/>
              </a:spcBef>
              <a:spcAft>
                <a:spcPts val="600"/>
              </a:spcAft>
            </a:pPr>
            <a:r>
              <a:rPr lang="en-US" sz="5000" b="1" dirty="0"/>
              <a:t>Correlation </a:t>
            </a:r>
            <a:r>
              <a:rPr lang="en-US" sz="5000" b="1" dirty="0" err="1"/>
              <a:t>Matrix:</a:t>
            </a:r>
            <a:r>
              <a:rPr lang="en-US" sz="5000" dirty="0" err="1"/>
              <a:t>C</a:t>
            </a:r>
            <a:r>
              <a:rPr lang="en-US" sz="5400" dirty="0" err="1"/>
              <a:t>orrelation</a:t>
            </a:r>
            <a:r>
              <a:rPr lang="en-US" sz="5400" dirty="0"/>
              <a:t> coefficients between multiple variables, indicating the strength and direction of their linear relationships</a:t>
            </a:r>
            <a:r>
              <a:rPr lang="en-US" dirty="0"/>
              <a:t>, </a:t>
            </a:r>
            <a:r>
              <a:rPr lang="en-US" sz="5600" dirty="0"/>
              <a:t>included</a:t>
            </a:r>
          </a:p>
          <a:p>
            <a:pPr marL="0" lvl="1" indent="0" defTabSz="914400">
              <a:lnSpc>
                <a:spcPct val="90000"/>
              </a:lnSpc>
              <a:spcBef>
                <a:spcPts val="1000"/>
              </a:spcBef>
              <a:spcAft>
                <a:spcPts val="600"/>
              </a:spcAft>
              <a:buFont typeface="+mj-lt"/>
              <a:buNone/>
            </a:pPr>
            <a:endParaRPr lang="en-US" sz="1200" dirty="0"/>
          </a:p>
        </p:txBody>
      </p:sp>
    </p:spTree>
    <p:extLst>
      <p:ext uri="{BB962C8B-B14F-4D97-AF65-F5344CB8AC3E}">
        <p14:creationId xmlns:p14="http://schemas.microsoft.com/office/powerpoint/2010/main" val="29749388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8B397-A2CA-ACBF-70DB-E7EDE39A1304}"/>
              </a:ext>
            </a:extLst>
          </p:cNvPr>
          <p:cNvSpPr>
            <a:spLocks noGrp="1"/>
          </p:cNvSpPr>
          <p:nvPr>
            <p:ph type="title"/>
          </p:nvPr>
        </p:nvSpPr>
        <p:spPr>
          <a:xfrm>
            <a:off x="3619500" y="5854700"/>
            <a:ext cx="3149600" cy="558800"/>
          </a:xfrm>
        </p:spPr>
        <p:txBody>
          <a:bodyPr anchor="b">
            <a:normAutofit fontScale="90000"/>
          </a:bodyPr>
          <a:lstStyle/>
          <a:p>
            <a:r>
              <a:rPr lang="en-US" sz="2700" b="1" dirty="0"/>
              <a:t>SAMPLE Visualization </a:t>
            </a:r>
          </a:p>
        </p:txBody>
      </p:sp>
      <p:sp>
        <p:nvSpPr>
          <p:cNvPr id="3" name="Content Placeholder 2">
            <a:extLst>
              <a:ext uri="{FF2B5EF4-FFF2-40B4-BE49-F238E27FC236}">
                <a16:creationId xmlns:a16="http://schemas.microsoft.com/office/drawing/2014/main" id="{3D204B42-8D41-ABDD-5E43-92DD751A5ED8}"/>
              </a:ext>
            </a:extLst>
          </p:cNvPr>
          <p:cNvSpPr>
            <a:spLocks noGrp="1"/>
          </p:cNvSpPr>
          <p:nvPr>
            <p:ph sz="quarter" idx="13"/>
          </p:nvPr>
        </p:nvSpPr>
        <p:spPr/>
        <p:txBody>
          <a:bodyPr>
            <a:normAutofit/>
          </a:bodyPr>
          <a:lstStyle/>
          <a:p>
            <a:r>
              <a:rPr lang="en-US" sz="1500"/>
              <a:t>Visualizations showing relationships (scatter plots)  between variables done</a:t>
            </a:r>
          </a:p>
          <a:p>
            <a:endParaRPr lang="en-US" sz="1500"/>
          </a:p>
          <a:p>
            <a:r>
              <a:rPr lang="en-US" sz="1500"/>
              <a:t>Distributions (histograms) between features and the target variable </a:t>
            </a:r>
          </a:p>
          <a:p>
            <a:r>
              <a:rPr lang="en-US" sz="1500"/>
              <a:t>Bar graph </a:t>
            </a:r>
          </a:p>
          <a:p>
            <a:r>
              <a:rPr lang="en-US" sz="1500"/>
              <a:t>Correlation Matrix</a:t>
            </a:r>
          </a:p>
          <a:p>
            <a:endParaRPr lang="en-US" sz="1500"/>
          </a:p>
        </p:txBody>
      </p:sp>
      <p:pic>
        <p:nvPicPr>
          <p:cNvPr id="1026" name="Picture 2">
            <a:extLst>
              <a:ext uri="{FF2B5EF4-FFF2-40B4-BE49-F238E27FC236}">
                <a16:creationId xmlns:a16="http://schemas.microsoft.com/office/drawing/2014/main" id="{8E13DA00-56FC-566A-C134-CF3A934B94D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121244"/>
            <a:ext cx="3708400" cy="6168820"/>
          </a:xfrm>
          <a:prstGeom prst="rect">
            <a:avLst/>
          </a:prstGeom>
          <a:solidFill>
            <a:srgbClr val="FFFFFF"/>
          </a:solidFill>
        </p:spPr>
      </p:pic>
      <p:pic>
        <p:nvPicPr>
          <p:cNvPr id="4" name="Picture 3">
            <a:extLst>
              <a:ext uri="{FF2B5EF4-FFF2-40B4-BE49-F238E27FC236}">
                <a16:creationId xmlns:a16="http://schemas.microsoft.com/office/drawing/2014/main" id="{6E5035C1-D075-FC3F-4B52-E5AE8E9851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86150" y="625475"/>
            <a:ext cx="4489450" cy="4159250"/>
          </a:xfrm>
          <a:prstGeom prst="rect">
            <a:avLst/>
          </a:prstGeom>
          <a:noFill/>
          <a:ln>
            <a:noFill/>
          </a:ln>
        </p:spPr>
      </p:pic>
      <p:pic>
        <p:nvPicPr>
          <p:cNvPr id="1028" name="Picture 4">
            <a:extLst>
              <a:ext uri="{FF2B5EF4-FFF2-40B4-BE49-F238E27FC236}">
                <a16:creationId xmlns:a16="http://schemas.microsoft.com/office/drawing/2014/main" id="{63BF7556-BF14-CEAC-EC22-CDCFC066A1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5300" y="103188"/>
            <a:ext cx="4229100" cy="39338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E2005C1-CEEB-54D7-DE9C-3D65BFCC320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2577705"/>
            <a:ext cx="4368800" cy="3845320"/>
          </a:xfrm>
          <a:prstGeom prst="rect">
            <a:avLst/>
          </a:prstGeom>
          <a:noFill/>
          <a:ln>
            <a:noFill/>
          </a:ln>
        </p:spPr>
      </p:pic>
    </p:spTree>
    <p:extLst>
      <p:ext uri="{BB962C8B-B14F-4D97-AF65-F5344CB8AC3E}">
        <p14:creationId xmlns:p14="http://schemas.microsoft.com/office/powerpoint/2010/main" val="1723681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D089A-9ABB-EABC-A6F2-603072B36220}"/>
              </a:ext>
            </a:extLst>
          </p:cNvPr>
          <p:cNvSpPr>
            <a:spLocks noGrp="1"/>
          </p:cNvSpPr>
          <p:nvPr>
            <p:ph type="title"/>
          </p:nvPr>
        </p:nvSpPr>
        <p:spPr>
          <a:xfrm>
            <a:off x="1033272" y="347472"/>
            <a:ext cx="9875520" cy="1033272"/>
          </a:xfrm>
        </p:spPr>
        <p:txBody>
          <a:bodyPr anchor="ctr">
            <a:normAutofit/>
          </a:bodyPr>
          <a:lstStyle/>
          <a:p>
            <a:pPr algn="ctr"/>
            <a:r>
              <a:rPr lang="en-US" dirty="0"/>
              <a:t>MODEL  DEVELOPMENT</a:t>
            </a:r>
          </a:p>
        </p:txBody>
      </p:sp>
      <p:graphicFrame>
        <p:nvGraphicFramePr>
          <p:cNvPr id="6" name="Content Placeholder 5">
            <a:extLst>
              <a:ext uri="{FF2B5EF4-FFF2-40B4-BE49-F238E27FC236}">
                <a16:creationId xmlns:a16="http://schemas.microsoft.com/office/drawing/2014/main" id="{58E6B996-0777-1ED3-D452-4F239DD78907}"/>
              </a:ext>
            </a:extLst>
          </p:cNvPr>
          <p:cNvGraphicFramePr>
            <a:graphicFrameLocks noGrp="1"/>
          </p:cNvGraphicFramePr>
          <p:nvPr>
            <p:ph idx="1"/>
            <p:extLst>
              <p:ext uri="{D42A27DB-BD31-4B8C-83A1-F6EECF244321}">
                <p14:modId xmlns:p14="http://schemas.microsoft.com/office/powerpoint/2010/main" val="3187310276"/>
              </p:ext>
              <p:ext uri="{E7BDC344-281C-4309-B0C6-D0EE65EED2A8}">
                <p202:designPr xmlns:p202="http://schemas.microsoft.com/office/powerpoint/2020/02/main">
                  <p202:designTagLst>
                    <p202:designTag name="ARCH:1:CLS" val="StackedSequentialRowTable"/>
                  </p202:designTagLst>
                </p202:designPr>
              </p:ext>
            </p:extLst>
          </p:nvPr>
        </p:nvGraphicFramePr>
        <p:xfrm>
          <a:off x="1360826" y="2210118"/>
          <a:ext cx="9220412" cy="4205670"/>
        </p:xfrm>
        <a:graphic>
          <a:graphicData uri="http://schemas.openxmlformats.org/drawingml/2006/table">
            <a:tbl>
              <a:tblPr bandRow="1">
                <a:noFill/>
                <a:tableStyleId>{5C22544A-7EE6-4342-B048-85BDC9FD1C3A}</a:tableStyleId>
              </a:tblPr>
              <a:tblGrid>
                <a:gridCol w="1520436">
                  <a:extLst>
                    <a:ext uri="{9D8B030D-6E8A-4147-A177-3AD203B41FA5}">
                      <a16:colId xmlns:a16="http://schemas.microsoft.com/office/drawing/2014/main" val="1271981919"/>
                    </a:ext>
                  </a:extLst>
                </a:gridCol>
                <a:gridCol w="7699976">
                  <a:extLst>
                    <a:ext uri="{9D8B030D-6E8A-4147-A177-3AD203B41FA5}">
                      <a16:colId xmlns:a16="http://schemas.microsoft.com/office/drawing/2014/main" val="2261100512"/>
                    </a:ext>
                  </a:extLst>
                </a:gridCol>
              </a:tblGrid>
              <a:tr h="823532">
                <a:tc>
                  <a:txBody>
                    <a:bodyPr/>
                    <a:lstStyle/>
                    <a:p>
                      <a:pPr algn="ctr">
                        <a:buNone/>
                      </a:pPr>
                      <a:r>
                        <a:rPr lang="en-US" sz="3300" b="1" cap="none" spc="0" dirty="0">
                          <a:solidFill>
                            <a:schemeClr val="bg1"/>
                          </a:solidFill>
                        </a:rPr>
                        <a:t>01</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2100" b="0" cap="none" spc="0" dirty="0">
                          <a:solidFill>
                            <a:schemeClr val="tx1"/>
                          </a:solidFill>
                        </a:rPr>
                        <a:t>Multiple Linear Regression</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671829832"/>
                  </a:ext>
                </a:extLst>
              </a:tr>
              <a:tr h="823532">
                <a:tc>
                  <a:txBody>
                    <a:bodyPr/>
                    <a:lstStyle/>
                    <a:p>
                      <a:pPr algn="ctr">
                        <a:buNone/>
                      </a:pPr>
                      <a:r>
                        <a:rPr lang="en-US" sz="3300" b="1" cap="none" spc="0" dirty="0">
                          <a:solidFill>
                            <a:schemeClr val="bg1"/>
                          </a:solidFill>
                        </a:rPr>
                        <a:t>02</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2100" b="0" cap="none" spc="0" dirty="0">
                          <a:solidFill>
                            <a:schemeClr val="tx1"/>
                          </a:solidFill>
                        </a:rPr>
                        <a:t>Multiple Linear Regression with Feature Engineering</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553991799"/>
                  </a:ext>
                </a:extLst>
              </a:tr>
              <a:tr h="823532">
                <a:tc>
                  <a:txBody>
                    <a:bodyPr/>
                    <a:lstStyle/>
                    <a:p>
                      <a:pPr algn="ctr">
                        <a:buNone/>
                      </a:pPr>
                      <a:r>
                        <a:rPr lang="en-US" sz="3300" b="1" cap="none" spc="0">
                          <a:solidFill>
                            <a:schemeClr val="bg1"/>
                          </a:solidFill>
                        </a:rPr>
                        <a:t>03</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2100" b="0" cap="none" spc="0" dirty="0">
                          <a:solidFill>
                            <a:schemeClr val="tx1"/>
                          </a:solidFill>
                        </a:rPr>
                        <a:t>Random Forest</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32335720"/>
                  </a:ext>
                </a:extLst>
              </a:tr>
              <a:tr h="949262">
                <a:tc>
                  <a:txBody>
                    <a:bodyPr/>
                    <a:lstStyle/>
                    <a:p>
                      <a:pPr algn="ctr">
                        <a:buNone/>
                      </a:pPr>
                      <a:r>
                        <a:rPr lang="en-US" sz="3300" b="1" cap="none" spc="0">
                          <a:solidFill>
                            <a:schemeClr val="bg1"/>
                          </a:solidFill>
                        </a:rPr>
                        <a:t>04</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2100" b="0" cap="none" spc="0" dirty="0">
                          <a:solidFill>
                            <a:schemeClr val="tx1"/>
                          </a:solidFill>
                        </a:rPr>
                        <a:t>Gradient Boosting</a:t>
                      </a:r>
                    </a:p>
                    <a:p>
                      <a:pPr algn="l">
                        <a:buNone/>
                      </a:pPr>
                      <a:endParaRPr lang="en-US" sz="2100" b="0" cap="none" spc="0" dirty="0">
                        <a:solidFill>
                          <a:schemeClr val="tx1"/>
                        </a:solidFill>
                      </a:endParaRP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1289440795"/>
                  </a:ext>
                </a:extLst>
              </a:tr>
              <a:tr h="634937">
                <a:tc>
                  <a:txBody>
                    <a:bodyPr/>
                    <a:lstStyle/>
                    <a:p>
                      <a:pPr algn="ctr">
                        <a:buNone/>
                      </a:pPr>
                      <a:r>
                        <a:rPr lang="en-US" sz="3300" b="1" cap="none" spc="0" dirty="0">
                          <a:solidFill>
                            <a:schemeClr val="bg1"/>
                          </a:solidFill>
                        </a:rPr>
                        <a:t>05</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solidFill>
                      <a:schemeClr val="accent1"/>
                    </a:solidFill>
                  </a:tcPr>
                </a:tc>
                <a:tc>
                  <a:txBody>
                    <a:bodyPr/>
                    <a:lstStyle/>
                    <a:p>
                      <a:pPr algn="l">
                        <a:buNone/>
                      </a:pPr>
                      <a:r>
                        <a:rPr lang="en-US" sz="2100" b="0" cap="none" spc="0" dirty="0">
                          <a:solidFill>
                            <a:schemeClr val="tx1"/>
                          </a:solidFill>
                        </a:rPr>
                        <a:t>PCA</a:t>
                      </a:r>
                    </a:p>
                  </a:txBody>
                  <a:tcPr marL="141446" marR="141446" marT="141446" marB="141446" anchor="ctr">
                    <a:lnL w="12700" cmpd="sng">
                      <a:noFill/>
                      <a:prstDash val="solid"/>
                    </a:lnL>
                    <a:lnR w="12700" cmpd="sng">
                      <a:noFill/>
                      <a:prstDash val="solid"/>
                    </a:lnR>
                    <a:lnT w="6350" cap="flat" cmpd="sng" algn="ctr">
                      <a:solidFill>
                        <a:schemeClr val="accent1">
                          <a:lumMod val="50000"/>
                        </a:schemeClr>
                      </a:solidFill>
                      <a:prstDash val="solid"/>
                    </a:lnT>
                    <a:lnB w="6350" cap="flat" cmpd="sng" algn="ctr">
                      <a:solidFill>
                        <a:schemeClr val="accent1">
                          <a:lumMod val="50000"/>
                        </a:schemeClr>
                      </a:solidFill>
                      <a:prstDash val="solid"/>
                    </a:lnB>
                    <a:noFill/>
                  </a:tcPr>
                </a:tc>
                <a:extLst>
                  <a:ext uri="{0D108BD9-81ED-4DB2-BD59-A6C34878D82A}">
                    <a16:rowId xmlns:a16="http://schemas.microsoft.com/office/drawing/2014/main" val="2317875951"/>
                  </a:ext>
                </a:extLst>
              </a:tr>
            </a:tbl>
          </a:graphicData>
        </a:graphic>
      </p:graphicFrame>
    </p:spTree>
    <p:extLst>
      <p:ext uri="{BB962C8B-B14F-4D97-AF65-F5344CB8AC3E}">
        <p14:creationId xmlns:p14="http://schemas.microsoft.com/office/powerpoint/2010/main" val="1540779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47980-2EDF-BE67-00C0-EF449B00F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E85CA-8D9F-35A0-D76F-694E492CCA14}"/>
              </a:ext>
            </a:extLst>
          </p:cNvPr>
          <p:cNvSpPr>
            <a:spLocks noGrp="1"/>
          </p:cNvSpPr>
          <p:nvPr>
            <p:ph type="title"/>
          </p:nvPr>
        </p:nvSpPr>
        <p:spPr>
          <a:xfrm>
            <a:off x="1033272" y="347472"/>
            <a:ext cx="9875520" cy="1033272"/>
          </a:xfrm>
        </p:spPr>
        <p:txBody>
          <a:bodyPr anchor="ctr">
            <a:normAutofit/>
          </a:bodyPr>
          <a:lstStyle/>
          <a:p>
            <a:pPr algn="ctr"/>
            <a:r>
              <a:rPr lang="en-US" dirty="0"/>
              <a:t>RMSE and R2 METRICS COMPARISON</a:t>
            </a:r>
          </a:p>
        </p:txBody>
      </p:sp>
      <p:graphicFrame>
        <p:nvGraphicFramePr>
          <p:cNvPr id="7" name="Table 6">
            <a:extLst>
              <a:ext uri="{FF2B5EF4-FFF2-40B4-BE49-F238E27FC236}">
                <a16:creationId xmlns:a16="http://schemas.microsoft.com/office/drawing/2014/main" id="{B7F46645-5119-ED45-17F6-D3EF74272A47}"/>
              </a:ext>
            </a:extLst>
          </p:cNvPr>
          <p:cNvGraphicFramePr>
            <a:graphicFrameLocks noGrp="1"/>
          </p:cNvGraphicFramePr>
          <p:nvPr>
            <p:extLst>
              <p:ext uri="{D42A27DB-BD31-4B8C-83A1-F6EECF244321}">
                <p14:modId xmlns:p14="http://schemas.microsoft.com/office/powerpoint/2010/main" val="1280494426"/>
              </p:ext>
            </p:extLst>
          </p:nvPr>
        </p:nvGraphicFramePr>
        <p:xfrm>
          <a:off x="636104" y="1974574"/>
          <a:ext cx="10866785" cy="5048887"/>
        </p:xfrm>
        <a:graphic>
          <a:graphicData uri="http://schemas.openxmlformats.org/drawingml/2006/table">
            <a:tbl>
              <a:tblPr firstRow="1" bandRow="1">
                <a:tableStyleId>{5C22544A-7EE6-4342-B048-85BDC9FD1C3A}</a:tableStyleId>
              </a:tblPr>
              <a:tblGrid>
                <a:gridCol w="894607">
                  <a:extLst>
                    <a:ext uri="{9D8B030D-6E8A-4147-A177-3AD203B41FA5}">
                      <a16:colId xmlns:a16="http://schemas.microsoft.com/office/drawing/2014/main" val="1584477557"/>
                    </a:ext>
                  </a:extLst>
                </a:gridCol>
                <a:gridCol w="1456923">
                  <a:extLst>
                    <a:ext uri="{9D8B030D-6E8A-4147-A177-3AD203B41FA5}">
                      <a16:colId xmlns:a16="http://schemas.microsoft.com/office/drawing/2014/main" val="1068543179"/>
                    </a:ext>
                  </a:extLst>
                </a:gridCol>
                <a:gridCol w="2518501">
                  <a:extLst>
                    <a:ext uri="{9D8B030D-6E8A-4147-A177-3AD203B41FA5}">
                      <a16:colId xmlns:a16="http://schemas.microsoft.com/office/drawing/2014/main" val="2127395078"/>
                    </a:ext>
                  </a:extLst>
                </a:gridCol>
                <a:gridCol w="1998918">
                  <a:extLst>
                    <a:ext uri="{9D8B030D-6E8A-4147-A177-3AD203B41FA5}">
                      <a16:colId xmlns:a16="http://schemas.microsoft.com/office/drawing/2014/main" val="2198058507"/>
                    </a:ext>
                  </a:extLst>
                </a:gridCol>
                <a:gridCol w="1998918">
                  <a:extLst>
                    <a:ext uri="{9D8B030D-6E8A-4147-A177-3AD203B41FA5}">
                      <a16:colId xmlns:a16="http://schemas.microsoft.com/office/drawing/2014/main" val="1378089174"/>
                    </a:ext>
                  </a:extLst>
                </a:gridCol>
                <a:gridCol w="1998918">
                  <a:extLst>
                    <a:ext uri="{9D8B030D-6E8A-4147-A177-3AD203B41FA5}">
                      <a16:colId xmlns:a16="http://schemas.microsoft.com/office/drawing/2014/main" val="1686114772"/>
                    </a:ext>
                  </a:extLst>
                </a:gridCol>
              </a:tblGrid>
              <a:tr h="563349">
                <a:tc rowSpan="2">
                  <a:txBody>
                    <a:bodyPr/>
                    <a:lstStyle/>
                    <a:p>
                      <a:pPr algn="ctr"/>
                      <a:r>
                        <a:rPr lang="en-US" sz="1300" b="1" dirty="0">
                          <a:solidFill>
                            <a:schemeClr val="bg1"/>
                          </a:solidFill>
                        </a:rPr>
                        <a:t>Sno#</a:t>
                      </a:r>
                    </a:p>
                  </a:txBody>
                  <a:tcPr marL="63709" marR="63709" marT="31854" marB="31854"/>
                </a:tc>
                <a:tc rowSpan="2">
                  <a:txBody>
                    <a:bodyPr/>
                    <a:lstStyle/>
                    <a:p>
                      <a:r>
                        <a:rPr lang="en-US" sz="1300" b="1" dirty="0">
                          <a:solidFill>
                            <a:schemeClr val="bg1"/>
                          </a:solidFill>
                        </a:rPr>
                        <a:t>MODEL NAME</a:t>
                      </a:r>
                    </a:p>
                  </a:txBody>
                  <a:tcPr marL="63709" marR="63709" marT="31854" marB="31854"/>
                </a:tc>
                <a:tc gridSpan="2">
                  <a:txBody>
                    <a:bodyPr/>
                    <a:lstStyle/>
                    <a:p>
                      <a:pPr algn="ctr"/>
                      <a:r>
                        <a:rPr lang="en-US" sz="1300" b="1" dirty="0">
                          <a:solidFill>
                            <a:schemeClr val="bg1"/>
                          </a:solidFill>
                        </a:rPr>
                        <a:t>RMSE</a:t>
                      </a:r>
                    </a:p>
                  </a:txBody>
                  <a:tcPr marL="63709" marR="63709" marT="31854" marB="31854"/>
                </a:tc>
                <a:tc hMerge="1">
                  <a:txBody>
                    <a:bodyPr/>
                    <a:lstStyle/>
                    <a:p>
                      <a:endParaRPr lang="en-US" dirty="0"/>
                    </a:p>
                  </a:txBody>
                  <a:tcPr/>
                </a:tc>
                <a:tc gridSpan="2">
                  <a:txBody>
                    <a:bodyPr/>
                    <a:lstStyle/>
                    <a:p>
                      <a:pPr algn="ctr"/>
                      <a:r>
                        <a:rPr lang="en-US" sz="1300" b="1" dirty="0">
                          <a:solidFill>
                            <a:schemeClr val="bg1"/>
                          </a:solidFill>
                        </a:rPr>
                        <a:t>R2</a:t>
                      </a:r>
                    </a:p>
                  </a:txBody>
                  <a:tcPr marL="63709" marR="63709" marT="31854" marB="31854"/>
                </a:tc>
                <a:tc hMerge="1">
                  <a:txBody>
                    <a:bodyPr/>
                    <a:lstStyle/>
                    <a:p>
                      <a:endParaRPr lang="en-US" sz="1300" b="1">
                        <a:solidFill>
                          <a:schemeClr val="tx1"/>
                        </a:solidFill>
                      </a:endParaRPr>
                    </a:p>
                  </a:txBody>
                  <a:tcPr marL="63709" marR="63709" marT="31854" marB="31854"/>
                </a:tc>
                <a:extLst>
                  <a:ext uri="{0D108BD9-81ED-4DB2-BD59-A6C34878D82A}">
                    <a16:rowId xmlns:a16="http://schemas.microsoft.com/office/drawing/2014/main" val="3938671566"/>
                  </a:ext>
                </a:extLst>
              </a:tr>
              <a:tr h="334904">
                <a:tc vMerge="1">
                  <a:txBody>
                    <a:bodyPr/>
                    <a:lstStyle/>
                    <a:p>
                      <a:pPr algn="ctr"/>
                      <a:endParaRPr lang="en-US" dirty="0"/>
                    </a:p>
                  </a:txBody>
                  <a:tcPr/>
                </a:tc>
                <a:tc vMerge="1">
                  <a:txBody>
                    <a:bodyPr/>
                    <a:lstStyle/>
                    <a:p>
                      <a:endParaRPr lang="en-US" dirty="0"/>
                    </a:p>
                  </a:txBody>
                  <a:tcPr/>
                </a:tc>
                <a:tc>
                  <a:txBody>
                    <a:bodyPr/>
                    <a:lstStyle/>
                    <a:p>
                      <a:r>
                        <a:rPr lang="en-US" sz="1300" b="1" dirty="0">
                          <a:solidFill>
                            <a:schemeClr val="bg1"/>
                          </a:solidFill>
                        </a:rPr>
                        <a:t>TEST</a:t>
                      </a:r>
                    </a:p>
                  </a:txBody>
                  <a:tcPr marL="63709" marR="63709" marT="31854" marB="31854">
                    <a:solidFill>
                      <a:schemeClr val="accent4">
                        <a:lumMod val="75000"/>
                      </a:schemeClr>
                    </a:solidFill>
                  </a:tcPr>
                </a:tc>
                <a:tc>
                  <a:txBody>
                    <a:bodyPr/>
                    <a:lstStyle/>
                    <a:p>
                      <a:r>
                        <a:rPr lang="en-US" sz="1300" b="1" dirty="0">
                          <a:solidFill>
                            <a:schemeClr val="bg1"/>
                          </a:solidFill>
                        </a:rPr>
                        <a:t>TRAIN</a:t>
                      </a:r>
                    </a:p>
                  </a:txBody>
                  <a:tcPr marL="63709" marR="63709" marT="31854" marB="31854">
                    <a:solidFill>
                      <a:schemeClr val="accent4">
                        <a:lumMod val="75000"/>
                      </a:schemeClr>
                    </a:solidFill>
                  </a:tcPr>
                </a:tc>
                <a:tc>
                  <a:txBody>
                    <a:bodyPr/>
                    <a:lstStyle/>
                    <a:p>
                      <a:r>
                        <a:rPr lang="en-US" sz="1300" b="1" dirty="0">
                          <a:solidFill>
                            <a:schemeClr val="bg1"/>
                          </a:solidFill>
                        </a:rPr>
                        <a:t>TEST</a:t>
                      </a:r>
                    </a:p>
                  </a:txBody>
                  <a:tcPr marL="63709" marR="63709" marT="31854" marB="31854">
                    <a:solidFill>
                      <a:schemeClr val="accent4">
                        <a:lumMod val="75000"/>
                      </a:schemeClr>
                    </a:solidFill>
                  </a:tcPr>
                </a:tc>
                <a:tc>
                  <a:txBody>
                    <a:bodyPr/>
                    <a:lstStyle/>
                    <a:p>
                      <a:r>
                        <a:rPr lang="en-US" sz="1300" b="1" dirty="0">
                          <a:solidFill>
                            <a:schemeClr val="bg1"/>
                          </a:solidFill>
                        </a:rPr>
                        <a:t>TRAIN</a:t>
                      </a:r>
                    </a:p>
                  </a:txBody>
                  <a:tcPr marL="63709" marR="63709" marT="31854" marB="31854">
                    <a:solidFill>
                      <a:schemeClr val="accent4">
                        <a:lumMod val="75000"/>
                      </a:schemeClr>
                    </a:solidFill>
                  </a:tcPr>
                </a:tc>
                <a:extLst>
                  <a:ext uri="{0D108BD9-81ED-4DB2-BD59-A6C34878D82A}">
                    <a16:rowId xmlns:a16="http://schemas.microsoft.com/office/drawing/2014/main" val="3986747654"/>
                  </a:ext>
                </a:extLst>
              </a:tr>
              <a:tr h="1022913">
                <a:tc>
                  <a:txBody>
                    <a:bodyPr/>
                    <a:lstStyle/>
                    <a:p>
                      <a:r>
                        <a:rPr lang="en-US" sz="1300" b="1">
                          <a:solidFill>
                            <a:schemeClr val="tx1"/>
                          </a:solidFill>
                        </a:rPr>
                        <a:t>1</a:t>
                      </a: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cap="none" spc="0" dirty="0">
                          <a:solidFill>
                            <a:schemeClr val="tx1"/>
                          </a:solidFill>
                          <a:latin typeface="+mn-lt"/>
                          <a:ea typeface="+mn-ea"/>
                          <a:cs typeface="+mn-cs"/>
                        </a:rPr>
                        <a:t>Multiple Linear Regression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1" kern="1200" cap="none" spc="0" dirty="0">
                        <a:solidFill>
                          <a:schemeClr val="tx1"/>
                        </a:solidFill>
                        <a:latin typeface="+mn-lt"/>
                        <a:ea typeface="+mn-ea"/>
                        <a:cs typeface="+mn-cs"/>
                      </a:endParaRPr>
                    </a:p>
                  </a:txBody>
                  <a:tcPr marL="63709" marR="63709" marT="31854" marB="31854"/>
                </a:tc>
                <a:tc>
                  <a:txBody>
                    <a:bodyPr/>
                    <a:lstStyle/>
                    <a:p>
                      <a:pPr latinLnBrk="1"/>
                      <a:r>
                        <a:rPr lang="en-US" sz="1300" b="1" i="0" kern="1200" dirty="0">
                          <a:solidFill>
                            <a:schemeClr val="tx1"/>
                          </a:solidFill>
                          <a:effectLst/>
                          <a:latin typeface="+mn-lt"/>
                          <a:ea typeface="+mn-ea"/>
                          <a:cs typeface="+mn-cs"/>
                        </a:rPr>
                        <a:t>6075.394923889811</a:t>
                      </a:r>
                    </a:p>
                    <a:p>
                      <a:endParaRPr lang="en-US" sz="1300" b="1" dirty="0">
                        <a:solidFill>
                          <a:schemeClr val="tx1"/>
                        </a:solidFill>
                      </a:endParaRPr>
                    </a:p>
                  </a:txBody>
                  <a:tcPr marL="63709" marR="63709" marT="31854" marB="31854"/>
                </a:tc>
                <a:tc>
                  <a:txBody>
                    <a:bodyPr/>
                    <a:lstStyle/>
                    <a:p>
                      <a:pPr latinLnBrk="1"/>
                      <a:r>
                        <a:rPr lang="en-US" sz="1300" b="1" i="0" kern="1200">
                          <a:solidFill>
                            <a:schemeClr val="tx1"/>
                          </a:solidFill>
                          <a:effectLst/>
                          <a:latin typeface="+mn-lt"/>
                          <a:ea typeface="+mn-ea"/>
                          <a:cs typeface="+mn-cs"/>
                        </a:rPr>
                        <a:t>6095.950194009487</a:t>
                      </a:r>
                    </a:p>
                    <a:p>
                      <a:br>
                        <a:rPr lang="en-US" sz="1300" b="1">
                          <a:solidFill>
                            <a:schemeClr val="tx1"/>
                          </a:solidFill>
                        </a:rPr>
                      </a:br>
                      <a:br>
                        <a:rPr lang="en-US" sz="1300" b="1">
                          <a:solidFill>
                            <a:schemeClr val="tx1"/>
                          </a:solidFill>
                        </a:rPr>
                      </a:br>
                      <a:endParaRPr lang="en-US" sz="1300" b="1">
                        <a:solidFill>
                          <a:schemeClr val="tx1"/>
                        </a:solidFill>
                      </a:endParaRPr>
                    </a:p>
                  </a:txBody>
                  <a:tcPr marL="63709" marR="63709" marT="31854" marB="31854"/>
                </a:tc>
                <a:tc>
                  <a:txBody>
                    <a:bodyPr/>
                    <a:lstStyle/>
                    <a:p>
                      <a:pPr latinLnBrk="1"/>
                      <a:r>
                        <a:rPr lang="en-US" sz="1300" b="1" i="0" kern="1200" dirty="0">
                          <a:solidFill>
                            <a:schemeClr val="tx1"/>
                          </a:solidFill>
                          <a:effectLst/>
                          <a:latin typeface="+mn-lt"/>
                          <a:ea typeface="+mn-ea"/>
                          <a:cs typeface="+mn-cs"/>
                        </a:rPr>
                        <a:t>0.6527447554285812</a:t>
                      </a:r>
                    </a:p>
                    <a:p>
                      <a:endParaRPr lang="en-US" sz="1300" b="1" dirty="0">
                        <a:solidFill>
                          <a:schemeClr val="tx1"/>
                        </a:solidFill>
                      </a:endParaRPr>
                    </a:p>
                  </a:txBody>
                  <a:tcPr marL="63709" marR="63709" marT="31854" marB="31854"/>
                </a:tc>
                <a:tc>
                  <a:txBody>
                    <a:bodyPr/>
                    <a:lstStyle/>
                    <a:p>
                      <a:pPr latinLnBrk="1"/>
                      <a:r>
                        <a:rPr lang="en-US" sz="1300" b="1" i="0" kern="1200" dirty="0">
                          <a:solidFill>
                            <a:schemeClr val="tx1"/>
                          </a:solidFill>
                          <a:effectLst/>
                          <a:latin typeface="+mn-lt"/>
                          <a:ea typeface="+mn-ea"/>
                          <a:cs typeface="+mn-cs"/>
                        </a:rPr>
                        <a:t>0.6496260800298472</a:t>
                      </a:r>
                    </a:p>
                    <a:p>
                      <a:endParaRPr lang="en-US" sz="1300" b="1" dirty="0">
                        <a:solidFill>
                          <a:schemeClr val="tx1"/>
                        </a:solidFill>
                      </a:endParaRPr>
                    </a:p>
                  </a:txBody>
                  <a:tcPr marL="63709" marR="63709" marT="31854" marB="31854"/>
                </a:tc>
                <a:extLst>
                  <a:ext uri="{0D108BD9-81ED-4DB2-BD59-A6C34878D82A}">
                    <a16:rowId xmlns:a16="http://schemas.microsoft.com/office/drawing/2014/main" val="361297492"/>
                  </a:ext>
                </a:extLst>
              </a:tr>
              <a:tr h="1022913">
                <a:tc>
                  <a:txBody>
                    <a:bodyPr/>
                    <a:lstStyle/>
                    <a:p>
                      <a:r>
                        <a:rPr lang="en-US" sz="1300" b="1">
                          <a:solidFill>
                            <a:schemeClr val="tx1"/>
                          </a:solidFill>
                        </a:rPr>
                        <a:t>2</a:t>
                      </a: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cap="none" spc="0">
                          <a:solidFill>
                            <a:schemeClr val="tx1"/>
                          </a:solidFill>
                          <a:latin typeface="+mn-lt"/>
                          <a:ea typeface="+mn-ea"/>
                          <a:cs typeface="+mn-cs"/>
                        </a:rPr>
                        <a:t>Multiple Linear Regression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cap="none" spc="0">
                          <a:solidFill>
                            <a:schemeClr val="tx1"/>
                          </a:solidFill>
                          <a:latin typeface="+mn-lt"/>
                          <a:ea typeface="+mn-ea"/>
                          <a:cs typeface="+mn-cs"/>
                        </a:rPr>
                        <a:t>With selected features</a:t>
                      </a: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dirty="0">
                          <a:solidFill>
                            <a:schemeClr val="tx1"/>
                          </a:solidFill>
                          <a:effectLst/>
                          <a:latin typeface="+mn-lt"/>
                          <a:ea typeface="+mn-ea"/>
                          <a:cs typeface="+mn-cs"/>
                        </a:rPr>
                        <a:t>6081.035007994409</a:t>
                      </a:r>
                    </a:p>
                    <a:p>
                      <a:endParaRPr lang="en-US" sz="1300" b="1" dirty="0">
                        <a:solidFill>
                          <a:schemeClr val="tx1"/>
                        </a:solidFill>
                      </a:endParaRPr>
                    </a:p>
                  </a:txBody>
                  <a:tcPr marL="63709" marR="63709" marT="31854" marB="31854"/>
                </a:tc>
                <a:tc>
                  <a:txBody>
                    <a:bodyPr/>
                    <a:lstStyle/>
                    <a:p>
                      <a:pPr latinLnBrk="1"/>
                      <a:r>
                        <a:rPr lang="en-US" sz="1300" b="1" i="0" kern="1200" dirty="0">
                          <a:solidFill>
                            <a:schemeClr val="tx1"/>
                          </a:solidFill>
                          <a:effectLst/>
                          <a:latin typeface="+mn-lt"/>
                          <a:ea typeface="+mn-ea"/>
                          <a:cs typeface="+mn-cs"/>
                        </a:rPr>
                        <a:t>6100.978591789999</a:t>
                      </a:r>
                    </a:p>
                    <a:p>
                      <a:endParaRPr lang="en-US" sz="1300" b="1" dirty="0">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a:solidFill>
                            <a:schemeClr val="tx1"/>
                          </a:solidFill>
                          <a:effectLst/>
                          <a:latin typeface="+mn-lt"/>
                          <a:ea typeface="+mn-ea"/>
                          <a:cs typeface="+mn-cs"/>
                        </a:rPr>
                        <a:t>0.6520992694607296</a:t>
                      </a:r>
                    </a:p>
                    <a:p>
                      <a:endParaRPr lang="en-US" sz="1300" b="1">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dirty="0">
                          <a:solidFill>
                            <a:schemeClr val="tx1"/>
                          </a:solidFill>
                          <a:effectLst/>
                          <a:latin typeface="+mn-lt"/>
                          <a:ea typeface="+mn-ea"/>
                          <a:cs typeface="+mn-cs"/>
                        </a:rPr>
                        <a:t>0.6490439447702768</a:t>
                      </a:r>
                    </a:p>
                    <a:p>
                      <a:endParaRPr lang="en-US" sz="1300" b="1" dirty="0">
                        <a:solidFill>
                          <a:schemeClr val="tx1"/>
                        </a:solidFill>
                      </a:endParaRPr>
                    </a:p>
                  </a:txBody>
                  <a:tcPr marL="63709" marR="63709" marT="31854" marB="31854"/>
                </a:tc>
                <a:extLst>
                  <a:ext uri="{0D108BD9-81ED-4DB2-BD59-A6C34878D82A}">
                    <a16:rowId xmlns:a16="http://schemas.microsoft.com/office/drawing/2014/main" val="1288121705"/>
                  </a:ext>
                </a:extLst>
              </a:tr>
              <a:tr h="563247">
                <a:tc>
                  <a:txBody>
                    <a:bodyPr/>
                    <a:lstStyle/>
                    <a:p>
                      <a:r>
                        <a:rPr lang="en-US" sz="1300" b="1">
                          <a:solidFill>
                            <a:schemeClr val="tx1"/>
                          </a:solidFill>
                        </a:rPr>
                        <a:t>3</a:t>
                      </a: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kern="1200" cap="none" spc="0" dirty="0">
                          <a:solidFill>
                            <a:schemeClr val="tx1"/>
                          </a:solidFill>
                          <a:latin typeface="+mn-lt"/>
                          <a:ea typeface="+mn-ea"/>
                          <a:cs typeface="+mn-cs"/>
                        </a:rPr>
                        <a:t>Random Forest</a:t>
                      </a:r>
                    </a:p>
                  </a:txBody>
                  <a:tcPr marL="93523" marR="93523" marT="93523" marB="93523" anchor="ctr"/>
                </a:tc>
                <a:tc>
                  <a:txBody>
                    <a:bodyPr/>
                    <a:lstStyle/>
                    <a:p>
                      <a:pPr latinLnBrk="1"/>
                      <a:r>
                        <a:rPr lang="en-US" sz="1300" b="1" i="0" kern="1200">
                          <a:solidFill>
                            <a:schemeClr val="tx1"/>
                          </a:solidFill>
                          <a:effectLst/>
                          <a:latin typeface="+mn-lt"/>
                          <a:ea typeface="+mn-ea"/>
                          <a:cs typeface="+mn-cs"/>
                        </a:rPr>
                        <a:t>1155.685399456077</a:t>
                      </a:r>
                    </a:p>
                  </a:txBody>
                  <a:tcPr marL="93523" marR="93523" marT="93523" marB="935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a:solidFill>
                            <a:schemeClr val="tx1"/>
                          </a:solidFill>
                          <a:effectLst/>
                          <a:latin typeface="+mn-lt"/>
                          <a:ea typeface="+mn-ea"/>
                          <a:cs typeface="+mn-cs"/>
                        </a:rPr>
                        <a:t>3168.4818329283994</a:t>
                      </a:r>
                    </a:p>
                    <a:p>
                      <a:endParaRPr lang="en-US" sz="1300" b="1">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dirty="0">
                          <a:solidFill>
                            <a:schemeClr val="tx1"/>
                          </a:solidFill>
                          <a:effectLst/>
                          <a:latin typeface="+mn-lt"/>
                          <a:ea typeface="+mn-ea"/>
                          <a:cs typeface="+mn-cs"/>
                        </a:rPr>
                        <a:t>0.987432986492373</a:t>
                      </a:r>
                    </a:p>
                    <a:p>
                      <a:endParaRPr lang="en-US" sz="1300" b="1" dirty="0">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0" kern="1200" dirty="0">
                          <a:solidFill>
                            <a:schemeClr val="tx1"/>
                          </a:solidFill>
                          <a:effectLst/>
                          <a:latin typeface="+mn-lt"/>
                          <a:ea typeface="+mn-ea"/>
                          <a:cs typeface="+mn-cs"/>
                        </a:rPr>
                        <a:t>0.9047780227374073</a:t>
                      </a:r>
                    </a:p>
                    <a:p>
                      <a:endParaRPr lang="en-US" sz="1300" b="1" dirty="0">
                        <a:solidFill>
                          <a:schemeClr val="tx1"/>
                        </a:solidFill>
                      </a:endParaRPr>
                    </a:p>
                  </a:txBody>
                  <a:tcPr marL="63709" marR="63709" marT="31854" marB="31854"/>
                </a:tc>
                <a:extLst>
                  <a:ext uri="{0D108BD9-81ED-4DB2-BD59-A6C34878D82A}">
                    <a16:rowId xmlns:a16="http://schemas.microsoft.com/office/drawing/2014/main" val="4003243507"/>
                  </a:ext>
                </a:extLst>
              </a:tr>
              <a:tr h="710604">
                <a:tc>
                  <a:txBody>
                    <a:bodyPr/>
                    <a:lstStyle/>
                    <a:p>
                      <a:r>
                        <a:rPr lang="en-US" sz="1300" b="1">
                          <a:solidFill>
                            <a:schemeClr val="tx1"/>
                          </a:solidFill>
                        </a:rPr>
                        <a:t>4</a:t>
                      </a: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kern="1200" cap="none" spc="0" dirty="0">
                          <a:solidFill>
                            <a:schemeClr val="tx1"/>
                          </a:solidFill>
                          <a:latin typeface="+mn-lt"/>
                          <a:ea typeface="+mn-ea"/>
                          <a:cs typeface="+mn-cs"/>
                        </a:rPr>
                        <a:t>Gradient Boosting</a:t>
                      </a:r>
                    </a:p>
                  </a:txBody>
                  <a:tcPr marL="93523" marR="93523" marT="93523" marB="935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solidFill>
                          <a:effectLst/>
                          <a:latin typeface="+mn-lt"/>
                          <a:ea typeface="+mn-ea"/>
                          <a:cs typeface="+mn-cs"/>
                        </a:rPr>
                        <a:t>2397.001183747383</a:t>
                      </a:r>
                    </a:p>
                  </a:txBody>
                  <a:tcPr marL="93523" marR="93523" marT="93523" marB="935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solidFill>
                          <a:effectLst/>
                          <a:latin typeface="+mn-lt"/>
                          <a:ea typeface="+mn-ea"/>
                          <a:cs typeface="+mn-cs"/>
                        </a:rPr>
                        <a:t>3072.0420802777744</a:t>
                      </a:r>
                    </a:p>
                    <a:p>
                      <a:endParaRPr lang="en-US" sz="2400" b="1" dirty="0">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solidFill>
                          <a:effectLst/>
                          <a:latin typeface="+mn-lt"/>
                          <a:ea typeface="+mn-ea"/>
                          <a:cs typeface="+mn-cs"/>
                        </a:rPr>
                        <a:t>0.945906072179967</a:t>
                      </a:r>
                    </a:p>
                    <a:p>
                      <a:endParaRPr lang="en-US" sz="2400" b="1" dirty="0">
                        <a:solidFill>
                          <a:schemeClr val="tx1"/>
                        </a:solidFill>
                      </a:endParaRPr>
                    </a:p>
                  </a:txBody>
                  <a:tcPr marL="63709" marR="63709" marT="31854" marB="3185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0" kern="1200" dirty="0">
                          <a:solidFill>
                            <a:schemeClr val="tx1"/>
                          </a:solidFill>
                          <a:effectLst/>
                          <a:latin typeface="+mn-lt"/>
                          <a:ea typeface="+mn-ea"/>
                          <a:cs typeface="+mn-cs"/>
                        </a:rPr>
                        <a:t>0.9105778685336816</a:t>
                      </a:r>
                    </a:p>
                    <a:p>
                      <a:endParaRPr lang="en-US" sz="2400" b="1" dirty="0">
                        <a:solidFill>
                          <a:schemeClr val="tx1"/>
                        </a:solidFill>
                      </a:endParaRPr>
                    </a:p>
                  </a:txBody>
                  <a:tcPr marL="63709" marR="63709" marT="31854" marB="31854"/>
                </a:tc>
                <a:extLst>
                  <a:ext uri="{0D108BD9-81ED-4DB2-BD59-A6C34878D82A}">
                    <a16:rowId xmlns:a16="http://schemas.microsoft.com/office/drawing/2014/main" val="1789979372"/>
                  </a:ext>
                </a:extLst>
              </a:tr>
              <a:tr h="380573">
                <a:tc>
                  <a:txBody>
                    <a:bodyPr/>
                    <a:lstStyle/>
                    <a:p>
                      <a:endParaRPr lang="en-US" sz="1300"/>
                    </a:p>
                  </a:txBody>
                  <a:tcPr marL="63709" marR="63709" marT="31854" marB="31854"/>
                </a:tc>
                <a:tc>
                  <a:txBody>
                    <a:bodyPr/>
                    <a:lstStyle/>
                    <a:p>
                      <a:endParaRPr lang="en-US" sz="1300"/>
                    </a:p>
                  </a:txBody>
                  <a:tcPr marL="63709" marR="63709" marT="31854" marB="31854"/>
                </a:tc>
                <a:tc>
                  <a:txBody>
                    <a:bodyPr/>
                    <a:lstStyle/>
                    <a:p>
                      <a:endParaRPr lang="en-US" sz="1300"/>
                    </a:p>
                  </a:txBody>
                  <a:tcPr marL="63709" marR="63709" marT="31854" marB="31854"/>
                </a:tc>
                <a:tc>
                  <a:txBody>
                    <a:bodyPr/>
                    <a:lstStyle/>
                    <a:p>
                      <a:endParaRPr lang="en-US" sz="1300"/>
                    </a:p>
                  </a:txBody>
                  <a:tcPr marL="63709" marR="63709" marT="31854" marB="31854"/>
                </a:tc>
                <a:tc>
                  <a:txBody>
                    <a:bodyPr/>
                    <a:lstStyle/>
                    <a:p>
                      <a:endParaRPr lang="en-US" sz="1300"/>
                    </a:p>
                  </a:txBody>
                  <a:tcPr marL="63709" marR="63709" marT="31854" marB="31854"/>
                </a:tc>
                <a:tc>
                  <a:txBody>
                    <a:bodyPr/>
                    <a:lstStyle/>
                    <a:p>
                      <a:endParaRPr lang="en-US" sz="1300" dirty="0"/>
                    </a:p>
                  </a:txBody>
                  <a:tcPr marL="63709" marR="63709" marT="31854" marB="31854"/>
                </a:tc>
                <a:extLst>
                  <a:ext uri="{0D108BD9-81ED-4DB2-BD59-A6C34878D82A}">
                    <a16:rowId xmlns:a16="http://schemas.microsoft.com/office/drawing/2014/main" val="2315346548"/>
                  </a:ext>
                </a:extLst>
              </a:tr>
            </a:tbl>
          </a:graphicData>
        </a:graphic>
      </p:graphicFrame>
    </p:spTree>
    <p:extLst>
      <p:ext uri="{BB962C8B-B14F-4D97-AF65-F5344CB8AC3E}">
        <p14:creationId xmlns:p14="http://schemas.microsoft.com/office/powerpoint/2010/main" val="3141204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51E9-1601-1EC6-C430-1FC32F3CE3F4}"/>
              </a:ext>
            </a:extLst>
          </p:cNvPr>
          <p:cNvSpPr>
            <a:spLocks noGrp="1"/>
          </p:cNvSpPr>
          <p:nvPr>
            <p:ph type="ctrTitle"/>
          </p:nvPr>
        </p:nvSpPr>
        <p:spPr>
          <a:xfrm>
            <a:off x="731520" y="612648"/>
            <a:ext cx="7004304" cy="3557016"/>
          </a:xfrm>
        </p:spPr>
        <p:txBody>
          <a:bodyPr anchor="t">
            <a:normAutofit/>
          </a:bodyPr>
          <a:lstStyle/>
          <a:p>
            <a:r>
              <a:rPr lang="en-US" sz="2400" dirty="0"/>
              <a:t>Results and Evaluation</a:t>
            </a:r>
          </a:p>
        </p:txBody>
      </p:sp>
      <p:sp>
        <p:nvSpPr>
          <p:cNvPr id="10" name="Subtitle 2">
            <a:extLst>
              <a:ext uri="{FF2B5EF4-FFF2-40B4-BE49-F238E27FC236}">
                <a16:creationId xmlns:a16="http://schemas.microsoft.com/office/drawing/2014/main" id="{15280155-18CF-9110-DF55-8340A8FBCA51}"/>
              </a:ext>
            </a:extLst>
          </p:cNvPr>
          <p:cNvSpPr>
            <a:spLocks noGrp="1"/>
          </p:cNvSpPr>
          <p:nvPr>
            <p:ph type="subTitle" idx="1"/>
          </p:nvPr>
        </p:nvSpPr>
        <p:spPr>
          <a:xfrm>
            <a:off x="479839" y="1204843"/>
            <a:ext cx="8470959" cy="4057021"/>
          </a:xfrm>
        </p:spPr>
        <p:txBody>
          <a:bodyPr>
            <a:normAutofit lnSpcReduction="10000"/>
          </a:bodyPr>
          <a:lstStyle/>
          <a:p>
            <a:pPr marL="342900" indent="-342900">
              <a:buFont typeface="Wingdings" panose="05000000000000000000" pitchFamily="2" charset="2"/>
              <a:buChar char="ü"/>
            </a:pPr>
            <a:r>
              <a:rPr lang="en-US" sz="2400" cap="none" dirty="0">
                <a:latin typeface="+mn-lt"/>
                <a:cs typeface="Arial" panose="020B0604020202020204" pitchFamily="34" charset="0"/>
              </a:rPr>
              <a:t>4 </a:t>
            </a:r>
            <a:r>
              <a:rPr lang="en-US" sz="2400" cap="none" spc="0" dirty="0">
                <a:latin typeface="+mn-lt"/>
              </a:rPr>
              <a:t>different models built</a:t>
            </a:r>
          </a:p>
          <a:p>
            <a:pPr marL="342900" indent="-342900">
              <a:buFont typeface="Wingdings" panose="05000000000000000000" pitchFamily="2" charset="2"/>
              <a:buChar char="ü"/>
            </a:pPr>
            <a:r>
              <a:rPr lang="en-US" sz="2400" cap="none" spc="0" dirty="0">
                <a:latin typeface="+mn-lt"/>
              </a:rPr>
              <a:t>Multiple regression with feature engineering(remove weak correlated variables done)</a:t>
            </a:r>
          </a:p>
          <a:p>
            <a:r>
              <a:rPr lang="en-US" sz="2400" cap="none" spc="0" dirty="0">
                <a:latin typeface="+mn-lt"/>
              </a:rPr>
              <a:t>     Note: But the metrics remain the same</a:t>
            </a:r>
          </a:p>
          <a:p>
            <a:pPr marL="342900" indent="-342900">
              <a:buFont typeface="Wingdings" panose="05000000000000000000" pitchFamily="2" charset="2"/>
              <a:buChar char="ü"/>
            </a:pPr>
            <a:r>
              <a:rPr lang="en-US" sz="2400" cap="none" spc="0" dirty="0">
                <a:latin typeface="+mn-lt"/>
              </a:rPr>
              <a:t>Random forest shows slight overfitting (train performance &gt;&gt; test), but cross-validation scores    remain strong, so it generalizes well.</a:t>
            </a:r>
          </a:p>
          <a:p>
            <a:pPr marL="342900" indent="-342900">
              <a:buFont typeface="Wingdings" panose="05000000000000000000" pitchFamily="2" charset="2"/>
              <a:buChar char="ü"/>
            </a:pPr>
            <a:r>
              <a:rPr lang="en-US" sz="2400" cap="none" spc="0" dirty="0">
                <a:latin typeface="+mn-lt"/>
              </a:rPr>
              <a:t>Gradient Boosting is taken as best model</a:t>
            </a:r>
          </a:p>
          <a:p>
            <a:endParaRPr lang="en-US" cap="none"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71DDD38-34E9-A932-1D0B-758D3315198F}"/>
              </a:ext>
            </a:extLst>
          </p:cNvPr>
          <p:cNvSpPr txBox="1"/>
          <p:nvPr/>
        </p:nvSpPr>
        <p:spPr>
          <a:xfrm>
            <a:off x="9464813" y="2248765"/>
            <a:ext cx="3111500" cy="1077218"/>
          </a:xfrm>
          <a:prstGeom prst="rect">
            <a:avLst/>
          </a:prstGeom>
          <a:noFill/>
        </p:spPr>
        <p:txBody>
          <a:bodyPr wrap="square">
            <a:spAutoFit/>
          </a:bodyPr>
          <a:lstStyle/>
          <a:p>
            <a:r>
              <a:rPr lang="en-US" sz="3200" b="1" dirty="0">
                <a:solidFill>
                  <a:schemeClr val="bg1"/>
                </a:solidFill>
                <a:latin typeface="+mj-lt"/>
              </a:rPr>
              <a:t>MODEL SELECTION</a:t>
            </a:r>
          </a:p>
        </p:txBody>
      </p:sp>
    </p:spTree>
    <p:extLst>
      <p:ext uri="{BB962C8B-B14F-4D97-AF65-F5344CB8AC3E}">
        <p14:creationId xmlns:p14="http://schemas.microsoft.com/office/powerpoint/2010/main" val="3297207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6C5D1-2414-EFFE-C8CC-4240AA746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BC6B0-CB63-ECBE-B111-458D9B803C90}"/>
              </a:ext>
            </a:extLst>
          </p:cNvPr>
          <p:cNvSpPr>
            <a:spLocks noGrp="1"/>
          </p:cNvSpPr>
          <p:nvPr>
            <p:ph type="title"/>
          </p:nvPr>
        </p:nvSpPr>
        <p:spPr>
          <a:xfrm>
            <a:off x="88900" y="2032000"/>
            <a:ext cx="5927587" cy="2823464"/>
          </a:xfrm>
        </p:spPr>
        <p:txBody>
          <a:bodyPr anchor="ctr">
            <a:normAutofit/>
          </a:bodyPr>
          <a:lstStyle/>
          <a:p>
            <a:pPr>
              <a:lnSpc>
                <a:spcPct val="100000"/>
              </a:lnSpc>
            </a:pPr>
            <a:r>
              <a:rPr lang="en-US" sz="2400" dirty="0"/>
              <a:t>Results and Evaluation</a:t>
            </a:r>
            <a:br>
              <a:rPr lang="en-US" sz="2400" dirty="0"/>
            </a:br>
            <a:r>
              <a:rPr lang="en-US" sz="2400" dirty="0"/>
              <a:t>ADDITIONAL EXPERIMENTS</a:t>
            </a:r>
            <a:br>
              <a:rPr lang="en-US" sz="3400" dirty="0"/>
            </a:br>
            <a:endParaRPr lang="en-US" sz="3400" dirty="0"/>
          </a:p>
        </p:txBody>
      </p:sp>
      <p:sp>
        <p:nvSpPr>
          <p:cNvPr id="10" name="Subtitle 2">
            <a:extLst>
              <a:ext uri="{FF2B5EF4-FFF2-40B4-BE49-F238E27FC236}">
                <a16:creationId xmlns:a16="http://schemas.microsoft.com/office/drawing/2014/main" id="{E6E0CCA9-7394-B850-213B-D5F3BF419957}"/>
              </a:ext>
            </a:extLst>
          </p:cNvPr>
          <p:cNvSpPr>
            <a:spLocks noGrp="1"/>
          </p:cNvSpPr>
          <p:nvPr>
            <p:ph sz="quarter" idx="13"/>
          </p:nvPr>
        </p:nvSpPr>
        <p:spPr>
          <a:xfrm>
            <a:off x="7004304" y="225288"/>
            <a:ext cx="4517136" cy="6048024"/>
          </a:xfrm>
        </p:spPr>
        <p:txBody>
          <a:bodyPr anchor="ctr">
            <a:normAutofit fontScale="62500" lnSpcReduction="20000"/>
          </a:bodyPr>
          <a:lstStyle/>
          <a:p>
            <a:r>
              <a:rPr lang="en-US" sz="2600" b="1" dirty="0"/>
              <a:t>FEATURE ENGINEERING</a:t>
            </a:r>
          </a:p>
          <a:p>
            <a:pPr marL="0" indent="0">
              <a:lnSpc>
                <a:spcPct val="140000"/>
              </a:lnSpc>
              <a:buNone/>
            </a:pPr>
            <a:r>
              <a:rPr lang="en-US" sz="2800" dirty="0"/>
              <a:t>Combining wind-speed and avg wind-speed And  drop wind-speed and average-wind-speed-(period)columns with the new combined feature</a:t>
            </a:r>
          </a:p>
          <a:p>
            <a:pPr marL="0" indent="0">
              <a:lnSpc>
                <a:spcPct val="140000"/>
              </a:lnSpc>
              <a:buNone/>
            </a:pPr>
            <a:r>
              <a:rPr lang="en-US" sz="2800" dirty="0"/>
              <a:t> RESULT: the metrics remain same</a:t>
            </a:r>
          </a:p>
          <a:p>
            <a:pPr marL="0" lvl="1" indent="0">
              <a:lnSpc>
                <a:spcPct val="140000"/>
              </a:lnSpc>
              <a:spcBef>
                <a:spcPts val="1000"/>
              </a:spcBef>
              <a:buNone/>
            </a:pPr>
            <a:r>
              <a:rPr lang="en-US" sz="2800" dirty="0"/>
              <a:t>R-squared (R2) on Test Set: 0.63</a:t>
            </a:r>
          </a:p>
          <a:p>
            <a:pPr marL="0" lvl="1" indent="0">
              <a:lnSpc>
                <a:spcPct val="140000"/>
              </a:lnSpc>
              <a:spcBef>
                <a:spcPts val="1000"/>
              </a:spcBef>
              <a:buNone/>
            </a:pPr>
            <a:r>
              <a:rPr lang="en-US" sz="2800" dirty="0"/>
              <a:t>R-squared (R2) on Training Set: 0.66</a:t>
            </a:r>
          </a:p>
          <a:p>
            <a:pPr marL="0" marR="0" lvl="0" indent="0" algn="l" defTabSz="914400" rtl="0" eaLnBrk="1" fontAlgn="auto" latinLnBrk="0" hangingPunct="1">
              <a:lnSpc>
                <a:spcPct val="120000"/>
              </a:lnSpc>
              <a:spcBef>
                <a:spcPts val="1000"/>
              </a:spcBef>
              <a:spcAft>
                <a:spcPts val="0"/>
              </a:spcAft>
              <a:buClrTx/>
              <a:buSzTx/>
              <a:buNone/>
              <a:tabLst/>
              <a:defRPr/>
            </a:pPr>
            <a:r>
              <a:rPr kumimoji="0" lang="en-US" sz="2600" b="1" i="0" u="none" strike="noStrike" kern="1200" cap="none" spc="0" normalizeH="0" baseline="0" noProof="0" dirty="0">
                <a:ln>
                  <a:noFill/>
                </a:ln>
                <a:solidFill>
                  <a:prstClr val="black"/>
                </a:solidFill>
                <a:effectLst/>
                <a:uLnTx/>
                <a:uFillTx/>
                <a:latin typeface="Avenir Next LT Pro Light"/>
                <a:ea typeface="+mn-ea"/>
                <a:cs typeface="+mn-cs"/>
              </a:rPr>
              <a:t>2.  LINEAR REGRESSION WITH PCA</a:t>
            </a:r>
          </a:p>
          <a:p>
            <a:pPr marL="228600" lvl="1" indent="0" latinLnBrk="1">
              <a:buNone/>
            </a:pPr>
            <a:endParaRPr lang="en-US" dirty="0"/>
          </a:p>
          <a:p>
            <a:pPr>
              <a:buFont typeface="Wingdings" panose="05000000000000000000" pitchFamily="2" charset="2"/>
              <a:buChar char="v"/>
            </a:pPr>
            <a:r>
              <a:rPr lang="en-US" cap="none" dirty="0"/>
              <a:t>ELB</a:t>
            </a:r>
            <a:r>
              <a:rPr lang="en-US" dirty="0"/>
              <a:t>OW Plot generated</a:t>
            </a:r>
          </a:p>
          <a:p>
            <a:pPr>
              <a:buFont typeface="Wingdings" panose="05000000000000000000" pitchFamily="2" charset="2"/>
              <a:buChar char="v"/>
            </a:pPr>
            <a:r>
              <a:rPr lang="en-US" dirty="0"/>
              <a:t>Inferred that retaining 4 components may be  suitable</a:t>
            </a:r>
          </a:p>
          <a:p>
            <a:pPr latinLnBrk="1">
              <a:buFont typeface="Wingdings" panose="05000000000000000000" pitchFamily="2" charset="2"/>
              <a:buChar char="v"/>
            </a:pPr>
            <a:r>
              <a:rPr lang="en-US" dirty="0"/>
              <a:t>Linear Regression (PCA) Mean Squared Error on Test Set: 45119322.88</a:t>
            </a:r>
          </a:p>
          <a:p>
            <a:pPr latinLnBrk="1">
              <a:buFont typeface="Wingdings" panose="05000000000000000000" pitchFamily="2" charset="2"/>
              <a:buChar char="v"/>
            </a:pPr>
            <a:r>
              <a:rPr lang="en-US" dirty="0"/>
              <a:t>Linear Regression (PCA) R-squared on Test Set: 0.57</a:t>
            </a:r>
          </a:p>
          <a:p>
            <a:pPr latinLnBrk="1">
              <a:buFont typeface="Wingdings" panose="05000000000000000000" pitchFamily="2" charset="2"/>
              <a:buChar char="v"/>
            </a:pPr>
            <a:r>
              <a:rPr lang="en-US" dirty="0"/>
              <a:t>Linear Regression (PCA) R-squared on Training Set: 0.61</a:t>
            </a:r>
          </a:p>
          <a:p>
            <a:endParaRPr lang="en-US" cap="none" dirty="0"/>
          </a:p>
        </p:txBody>
      </p:sp>
    </p:spTree>
    <p:extLst>
      <p:ext uri="{BB962C8B-B14F-4D97-AF65-F5344CB8AC3E}">
        <p14:creationId xmlns:p14="http://schemas.microsoft.com/office/powerpoint/2010/main" val="242812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E7181-7D1D-2512-3E6A-E22C7295C696}"/>
              </a:ext>
            </a:extLst>
          </p:cNvPr>
          <p:cNvSpPr>
            <a:spLocks noGrp="1"/>
          </p:cNvSpPr>
          <p:nvPr>
            <p:ph type="title"/>
          </p:nvPr>
        </p:nvSpPr>
        <p:spPr>
          <a:xfrm>
            <a:off x="1033272" y="347472"/>
            <a:ext cx="9875520" cy="1033272"/>
          </a:xfrm>
        </p:spPr>
        <p:txBody>
          <a:bodyPr anchor="ctr">
            <a:normAutofit/>
          </a:bodyPr>
          <a:lstStyle/>
          <a:p>
            <a:r>
              <a:rPr lang="en-US" dirty="0"/>
              <a:t>          </a:t>
            </a:r>
            <a:r>
              <a:rPr lang="en-US" dirty="0" err="1"/>
              <a:t>DEPLOYMENT:Streamlit</a:t>
            </a:r>
            <a:r>
              <a:rPr lang="en-US" dirty="0"/>
              <a:t> Output</a:t>
            </a:r>
          </a:p>
        </p:txBody>
      </p:sp>
      <p:pic>
        <p:nvPicPr>
          <p:cNvPr id="10" name="Content Placeholder 9">
            <a:extLst>
              <a:ext uri="{FF2B5EF4-FFF2-40B4-BE49-F238E27FC236}">
                <a16:creationId xmlns:a16="http://schemas.microsoft.com/office/drawing/2014/main" id="{0F87FB1F-8384-771F-0C23-3AF4AEEA8B44}"/>
              </a:ext>
            </a:extLst>
          </p:cNvPr>
          <p:cNvPicPr>
            <a:picLocks noGrp="1" noChangeAspect="1"/>
          </p:cNvPicPr>
          <p:nvPr>
            <p:ph idx="1"/>
          </p:nvPr>
        </p:nvPicPr>
        <p:blipFill>
          <a:blip r:embed="rId2"/>
          <a:stretch>
            <a:fillRect/>
          </a:stretch>
        </p:blipFill>
        <p:spPr>
          <a:xfrm>
            <a:off x="245533" y="2194983"/>
            <a:ext cx="5782734" cy="4067175"/>
          </a:xfrm>
          <a:prstGeom prst="rect">
            <a:avLst/>
          </a:prstGeom>
        </p:spPr>
      </p:pic>
      <p:pic>
        <p:nvPicPr>
          <p:cNvPr id="12" name="Picture 11">
            <a:extLst>
              <a:ext uri="{FF2B5EF4-FFF2-40B4-BE49-F238E27FC236}">
                <a16:creationId xmlns:a16="http://schemas.microsoft.com/office/drawing/2014/main" id="{1FC976EB-F8B3-D94A-4847-43C2EA7B3F3D}"/>
              </a:ext>
            </a:extLst>
          </p:cNvPr>
          <p:cNvPicPr>
            <a:picLocks noChangeAspect="1"/>
          </p:cNvPicPr>
          <p:nvPr/>
        </p:nvPicPr>
        <p:blipFill>
          <a:blip r:embed="rId3"/>
          <a:stretch>
            <a:fillRect/>
          </a:stretch>
        </p:blipFill>
        <p:spPr>
          <a:xfrm>
            <a:off x="6752914" y="2294967"/>
            <a:ext cx="5098428" cy="3890682"/>
          </a:xfrm>
          <a:prstGeom prst="rect">
            <a:avLst/>
          </a:prstGeom>
        </p:spPr>
      </p:pic>
    </p:spTree>
    <p:extLst>
      <p:ext uri="{BB962C8B-B14F-4D97-AF65-F5344CB8AC3E}">
        <p14:creationId xmlns:p14="http://schemas.microsoft.com/office/powerpoint/2010/main" val="3519486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B8C9C-F683-2718-957C-C5B9F3ECA594}"/>
              </a:ext>
            </a:extLst>
          </p:cNvPr>
          <p:cNvSpPr>
            <a:spLocks noGrp="1"/>
          </p:cNvSpPr>
          <p:nvPr>
            <p:ph type="title"/>
          </p:nvPr>
        </p:nvSpPr>
        <p:spPr>
          <a:xfrm>
            <a:off x="822960" y="2029968"/>
            <a:ext cx="4398264" cy="2825496"/>
          </a:xfrm>
        </p:spPr>
        <p:txBody>
          <a:bodyPr anchor="ctr">
            <a:normAutofit/>
          </a:bodyPr>
          <a:lstStyle/>
          <a:p>
            <a:r>
              <a:rPr lang="en-US" sz="3700"/>
              <a:t>KEY INSIGHTS &amp; CONCLUSION</a:t>
            </a:r>
          </a:p>
        </p:txBody>
      </p:sp>
      <p:sp>
        <p:nvSpPr>
          <p:cNvPr id="8" name="Subtitle 2">
            <a:extLst>
              <a:ext uri="{FF2B5EF4-FFF2-40B4-BE49-F238E27FC236}">
                <a16:creationId xmlns:a16="http://schemas.microsoft.com/office/drawing/2014/main" id="{31F3ED0D-DEE3-79D1-38EF-9B5D1398A257}"/>
              </a:ext>
            </a:extLst>
          </p:cNvPr>
          <p:cNvSpPr>
            <a:spLocks noGrp="1"/>
          </p:cNvSpPr>
          <p:nvPr>
            <p:ph sz="quarter" idx="13"/>
          </p:nvPr>
        </p:nvSpPr>
        <p:spPr>
          <a:xfrm>
            <a:off x="6262182" y="306392"/>
            <a:ext cx="5611766" cy="6438965"/>
          </a:xfrm>
        </p:spPr>
        <p:txBody>
          <a:bodyPr anchor="ctr">
            <a:normAutofit fontScale="85000" lnSpcReduction="20000"/>
          </a:bodyPr>
          <a:lstStyle/>
          <a:p>
            <a:r>
              <a:rPr lang="en-US" sz="2400" dirty="0"/>
              <a:t>By analyzing the 2920-sample solar </a:t>
            </a:r>
            <a:r>
              <a:rPr lang="en-US" sz="2400" dirty="0" err="1"/>
              <a:t>powergeneration</a:t>
            </a:r>
            <a:r>
              <a:rPr lang="en-US" sz="2400" dirty="0"/>
              <a:t> dataset, a Gradient Boosting  Regressor was developed to predict power generated outperforming linear models.</a:t>
            </a:r>
          </a:p>
          <a:p>
            <a:r>
              <a:rPr lang="en-US" sz="2400" dirty="0"/>
              <a:t> The most significant drivers were distance-to-solar-noon and humidity. </a:t>
            </a:r>
          </a:p>
          <a:p>
            <a:r>
              <a:rPr lang="en-US" sz="2400" dirty="0"/>
              <a:t>We can conclude that the Gradient Boosting Model performs significantly better than the Linear Regression Model for this dataset. Its higher R2 scores on both the training and test sets indicate that it explains a much larger proportion of the variance in power-generated, making it a more accurate predictive model for this specific task.</a:t>
            </a:r>
          </a:p>
          <a:p>
            <a:r>
              <a:rPr lang="en-US" sz="2400" dirty="0"/>
              <a:t>The final model achieved an R2 of</a:t>
            </a:r>
          </a:p>
          <a:p>
            <a:pPr marL="0" indent="0">
              <a:buNone/>
            </a:pPr>
            <a:r>
              <a:rPr lang="en-US" sz="2400" dirty="0"/>
              <a:t>     Test R2=.90</a:t>
            </a:r>
          </a:p>
          <a:p>
            <a:pPr marL="0" indent="0">
              <a:buNone/>
            </a:pPr>
            <a:r>
              <a:rPr lang="en-US" sz="2400" dirty="0"/>
              <a:t>     Training R2=.95</a:t>
            </a:r>
          </a:p>
        </p:txBody>
      </p:sp>
    </p:spTree>
    <p:extLst>
      <p:ext uri="{BB962C8B-B14F-4D97-AF65-F5344CB8AC3E}">
        <p14:creationId xmlns:p14="http://schemas.microsoft.com/office/powerpoint/2010/main" val="579190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591995-ABC4-4167-17E0-482F24E0BEF6}"/>
              </a:ext>
            </a:extLst>
          </p:cNvPr>
          <p:cNvSpPr>
            <a:spLocks noGrp="1"/>
          </p:cNvSpPr>
          <p:nvPr>
            <p:ph type="title"/>
          </p:nvPr>
        </p:nvSpPr>
        <p:spPr>
          <a:xfrm>
            <a:off x="117348" y="1952244"/>
            <a:ext cx="3146552" cy="914400"/>
          </a:xfrm>
        </p:spPr>
        <p:txBody>
          <a:bodyPr>
            <a:normAutofit fontScale="90000"/>
          </a:bodyPr>
          <a:lstStyle/>
          <a:p>
            <a:r>
              <a:rPr lang="en-US" dirty="0">
                <a:solidFill>
                  <a:schemeClr val="bg1"/>
                </a:solidFill>
              </a:rPr>
              <a:t>FUTURE SCOPE</a:t>
            </a:r>
          </a:p>
        </p:txBody>
      </p:sp>
      <p:sp>
        <p:nvSpPr>
          <p:cNvPr id="4" name="Content Placeholder 3">
            <a:extLst>
              <a:ext uri="{FF2B5EF4-FFF2-40B4-BE49-F238E27FC236}">
                <a16:creationId xmlns:a16="http://schemas.microsoft.com/office/drawing/2014/main" id="{9403F0B1-80A6-F2DD-9B6F-4821EAE6A62A}"/>
              </a:ext>
            </a:extLst>
          </p:cNvPr>
          <p:cNvSpPr>
            <a:spLocks noGrp="1"/>
          </p:cNvSpPr>
          <p:nvPr>
            <p:ph sz="quarter" idx="13"/>
          </p:nvPr>
        </p:nvSpPr>
        <p:spPr>
          <a:xfrm>
            <a:off x="3124200" y="342900"/>
            <a:ext cx="7567355" cy="5948172"/>
          </a:xfrm>
        </p:spPr>
        <p:txBody>
          <a:bodyPr>
            <a:normAutofit/>
          </a:bodyPr>
          <a:lstStyle/>
          <a:p>
            <a:pPr marL="457200" indent="-457200">
              <a:lnSpc>
                <a:spcPct val="120000"/>
              </a:lnSpc>
              <a:buFont typeface="Wingdings" panose="05000000000000000000" pitchFamily="2" charset="2"/>
              <a:buChar char="v"/>
            </a:pPr>
            <a:r>
              <a:rPr lang="en-US" sz="2400" b="0" dirty="0"/>
              <a:t>Dataset Enhancement</a:t>
            </a:r>
          </a:p>
          <a:p>
            <a:pPr>
              <a:lnSpc>
                <a:spcPct val="120000"/>
              </a:lnSpc>
            </a:pPr>
            <a:r>
              <a:rPr lang="en-US" sz="1600" dirty="0">
                <a:latin typeface="+mn-lt"/>
              </a:rPr>
              <a:t>If available, incorporating additional meteorological data improve prediction accuracy</a:t>
            </a:r>
            <a:r>
              <a:rPr lang="en-US" sz="2100" dirty="0">
                <a:latin typeface="+mn-lt"/>
              </a:rPr>
              <a:t>.</a:t>
            </a:r>
            <a:endParaRPr lang="en-US" sz="2900" dirty="0"/>
          </a:p>
          <a:p>
            <a:pPr marL="457200" indent="-457200">
              <a:lnSpc>
                <a:spcPct val="120000"/>
              </a:lnSpc>
              <a:buFont typeface="Wingdings" panose="05000000000000000000" pitchFamily="2" charset="2"/>
              <a:buChar char="v"/>
            </a:pPr>
            <a:r>
              <a:rPr lang="en-US" sz="2400" b="0" dirty="0"/>
              <a:t>Exploring Other Advanced Models</a:t>
            </a:r>
          </a:p>
          <a:p>
            <a:pPr>
              <a:lnSpc>
                <a:spcPct val="120000"/>
              </a:lnSpc>
            </a:pPr>
            <a:r>
              <a:rPr lang="en-US" sz="1600" dirty="0" err="1">
                <a:latin typeface="+mn-lt"/>
              </a:rPr>
              <a:t>XGBoost</a:t>
            </a:r>
            <a:r>
              <a:rPr lang="en-US" sz="1600" dirty="0">
                <a:latin typeface="+mn-lt"/>
              </a:rPr>
              <a:t>, </a:t>
            </a:r>
            <a:r>
              <a:rPr lang="en-US" sz="1600" dirty="0" err="1">
                <a:latin typeface="+mn-lt"/>
              </a:rPr>
              <a:t>Light,GBM</a:t>
            </a:r>
            <a:r>
              <a:rPr lang="en-US" sz="1600" dirty="0">
                <a:latin typeface="+mn-lt"/>
              </a:rPr>
              <a:t> or even deep learning could  potentially capture more complex patterns.</a:t>
            </a:r>
          </a:p>
          <a:p>
            <a:pPr marL="457200" indent="-457200">
              <a:lnSpc>
                <a:spcPct val="120000"/>
              </a:lnSpc>
              <a:buFont typeface="Wingdings" panose="05000000000000000000" pitchFamily="2" charset="2"/>
              <a:buChar char="v"/>
            </a:pPr>
            <a:r>
              <a:rPr lang="en-US" sz="2400" b="0" dirty="0"/>
              <a:t>Strategic Planning and Growth</a:t>
            </a:r>
          </a:p>
          <a:p>
            <a:pPr>
              <a:lnSpc>
                <a:spcPct val="120000"/>
              </a:lnSpc>
            </a:pPr>
            <a:r>
              <a:rPr lang="en-US" sz="1600" dirty="0">
                <a:latin typeface="+mn-lt"/>
              </a:rPr>
              <a:t>Long term prediction helps developers choose the best locations for new solar farms, maximizing energy production potential</a:t>
            </a:r>
          </a:p>
          <a:p>
            <a:endParaRPr lang="en-US" dirty="0"/>
          </a:p>
        </p:txBody>
      </p:sp>
    </p:spTree>
    <p:extLst>
      <p:ext uri="{BB962C8B-B14F-4D97-AF65-F5344CB8AC3E}">
        <p14:creationId xmlns:p14="http://schemas.microsoft.com/office/powerpoint/2010/main" val="335269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200F-FFB4-E865-D84C-C31F3ED319F4}"/>
              </a:ext>
            </a:extLst>
          </p:cNvPr>
          <p:cNvSpPr>
            <a:spLocks noGrp="1"/>
          </p:cNvSpPr>
          <p:nvPr>
            <p:ph type="title"/>
          </p:nvPr>
        </p:nvSpPr>
        <p:spPr>
          <a:xfrm>
            <a:off x="731520" y="2596896"/>
            <a:ext cx="8933688" cy="3566160"/>
          </a:xfrm>
        </p:spPr>
        <p:txBody>
          <a:bodyPr anchor="b">
            <a:normAutofit/>
          </a:bodyPr>
          <a:lstStyle/>
          <a:p>
            <a:r>
              <a:rPr lang="en-US" dirty="0"/>
              <a:t>Thank you</a:t>
            </a:r>
            <a:br>
              <a:rPr lang="en-US"/>
            </a:br>
            <a:br>
              <a:rPr lang="en-US"/>
            </a:br>
            <a:endParaRPr lang="en-US" dirty="0"/>
          </a:p>
        </p:txBody>
      </p:sp>
    </p:spTree>
    <p:extLst>
      <p:ext uri="{BB962C8B-B14F-4D97-AF65-F5344CB8AC3E}">
        <p14:creationId xmlns:p14="http://schemas.microsoft.com/office/powerpoint/2010/main" val="2312245144"/>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757</TotalTime>
  <Words>1006</Words>
  <Application>Microsoft Office PowerPoint</Application>
  <PresentationFormat>Widescreen</PresentationFormat>
  <Paragraphs>162</Paragraphs>
  <Slides>17</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Avenir Next LT Pro</vt:lpstr>
      <vt:lpstr>Avenir Next LT Pro Light</vt:lpstr>
      <vt:lpstr>Google Sans</vt:lpstr>
      <vt:lpstr>Neue Haas Grotesk Text Pro</vt:lpstr>
      <vt:lpstr>Wingdings</vt:lpstr>
      <vt:lpstr>GradientRise</vt:lpstr>
      <vt:lpstr>Solar Power Prediction    PROJECT</vt:lpstr>
      <vt:lpstr>Group Number 6</vt:lpstr>
      <vt:lpstr>PROBLEM DEFINITION</vt:lpstr>
      <vt:lpstr>Weekly Project PLAN Timeline</vt:lpstr>
      <vt:lpstr>BUSINESS OBJECTIVES</vt:lpstr>
      <vt:lpstr>                       DATA UNDERSTANDING</vt:lpstr>
      <vt:lpstr>        DATA CLEANING AND PRE PREPROCESSING</vt:lpstr>
      <vt:lpstr>Visualizing Data Effectively(EDA)</vt:lpstr>
      <vt:lpstr>SAMPLE Visualization </vt:lpstr>
      <vt:lpstr>MODEL  DEVELOPMENT</vt:lpstr>
      <vt:lpstr>RMSE and R2 METRICS COMPARISON</vt:lpstr>
      <vt:lpstr>Results and Evaluation</vt:lpstr>
      <vt:lpstr>Results and Evaluation ADDITIONAL EXPERIMENTS </vt:lpstr>
      <vt:lpstr>          DEPLOYMENT:Streamlit Output</vt:lpstr>
      <vt:lpstr>KEY INSIGHTS &amp; CONCLUSION</vt:lpstr>
      <vt:lpstr>FUTURE SCOPE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Kamini B</dc:creator>
  <cp:lastModifiedBy>Kamini B</cp:lastModifiedBy>
  <cp:revision>40</cp:revision>
  <dcterms:created xsi:type="dcterms:W3CDTF">2026-01-29T06:25:21Z</dcterms:created>
  <dcterms:modified xsi:type="dcterms:W3CDTF">2026-02-04T06:18:51Z</dcterms:modified>
</cp:coreProperties>
</file>